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(15 s)
CY-HACK, track 1. Un vault open-ended promet le retrait à tout moment. Il ne peut plus tenir cette promesse dès qu'il fonctionne bien. Voici pourquoi, ce qu'on a construit, et ce que le protocole nous a appris.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0:40 (25 s)
Une trésorière d'entreprise dépose 25 XRP. Un broker prête à des PME, sur quatre mois. Un seul LoanSet prend 100 % du vault, sans avertissement. Elle veut retirer : tecINSUFFICIENT_FUNDS, ici dans l'explorer. On l'a rencontré en écrivant la démo.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1:00 (20 s)
Aucune transaction XLS-66 ne transfère un prêt. Mais la part de vault est un MPT, donc cessible. On la vend de gré à gré, à 97 % de sa valeur, avec deux escrows sous la même condition SHA-256 : pour prendre les parts, l'acheteur publie le secret qui paie la vendeuse.
Q&amp;A : l'escrow de la vendeuse expire avant celui de l'acheteur pour qu'elle ait le temps d'encaisser. Limite : l'acheteur détient une option gratuite d'une heure (README, Known limitations). BatchV1_1 est actif, autre chemin atomique, non testé.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(60 s)
Passer au terminal, commande déjà tapée : node scripts/demo.mjs --auto (56 s mesurées). Une phrase par scène :
1. Vault, dépôt, broker, couverture, et un prêt qui prend tout.
2. Elle veut sortir : refusé.
3. L'acheteur s'inscrit, deux escrows, il révèle le secret, elle le relit dans le ledger et encaisse.
4. L'emprunteur rembourse. C'est l'acheteur, qui n'a jamais déposé, qui retire, avec le rendement.
Si rien ne bouge pendant 15 s : Ctrl+C, revenir sur cette slide. Le terminal de droite est le run de référence, hashes dans le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2:15 (15 s)
Les huit étapes du minimum bar dans un seul run, chaque hash dans le README. Les quinze types XLS-65 et XLS-66 soumis au ledger, tous typés dans xrpl 4.6.0.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2:15 → 2:50 (35 s)
Broker à couverture minimale 10 %, liquidation 5 %. On provoque un défaut sur un prêt de 4 XRP. L'explorer montre 0,02 XRP pris sur la couverture : 4 × 10 % × 5 %, au drop près. Le déposant perd 3,98 XRP. C'est la formule documentée, et le même ratio sur un prêt de 50 XRP. En dessous : 21 secondes après le défaut, le broker retire les 0,98 XRP restants, parce que la dette, et donc le plancher, sont à zéro.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2:50 → 3:15 (25 s)
Un prêt 10 secondes en retard, dans son délai de grâce. Sans flag : tecEXPIRED, à gauche. Avec tfLoanLatePayment : succès, à droite, et l'explorer affiche ce flag en hexadécimal. L'échec est défini dans XLS-66, mais pas dans la référence LoanPay d'xrpl.org.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3:15 → 3:45 (30 s)
Huit autres, tous dans le rapport. Dire les deux premiers :
fixCleanup3_4_0 est actif et absent d'xrpl.org. Le tutoriel dit d'impairer avant l'échéance, le ledger répond tecTOO_SOON ; il change aussi le préfixe de signature de LoanSet, que xrpl 4.6.0 n'utilise pas.
La branche du hackathon a retiré la restriction V1.1 sur LoanBrokerSet, et le brief ne le dit pas.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3:45 → 3:55 (10 s)
Tout est dans FEEDBACK.md, trois pages. Les 143 hashes cités ont été relus sur le ledger avant soumission. Merci.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Shape 0"/>
          <p:cNvSpPr/>
          <p:nvPr/>
        </p:nvSpPr>
        <p:spPr>
          <a:xfrm>
            <a:off x="804672" y="2057400"/>
            <a:ext cx="836676" cy="292608"/>
          </a:xfrm>
          <a:prstGeom prst="roundRect">
            <a:avLst>
              <a:gd name="adj" fmla="val 50000"/>
            </a:avLst>
          </a:prstGeom>
          <a:solidFill>
            <a:srgbClr val="12357E"/>
          </a:solidFill>
          <a:ln/>
        </p:spPr>
      </p:sp>
      <p:sp>
        <p:nvSpPr>
          <p:cNvPr id="4" name="Text 1"/>
          <p:cNvSpPr txBox="1"/>
          <p:nvPr/>
        </p:nvSpPr>
        <p:spPr>
          <a:xfrm>
            <a:off x="804672"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XLS-65</a:t>
            </a:r>
            <a:endParaRPr lang="en-US" sz="950" dirty="0"/>
          </a:p>
        </p:txBody>
      </p:sp>
      <p:sp>
        <p:nvSpPr>
          <p:cNvPr id="5" name="Shape 2"/>
          <p:cNvSpPr/>
          <p:nvPr/>
        </p:nvSpPr>
        <p:spPr>
          <a:xfrm>
            <a:off x="1769364" y="2057400"/>
            <a:ext cx="836676" cy="292608"/>
          </a:xfrm>
          <a:prstGeom prst="roundRect">
            <a:avLst>
              <a:gd name="adj" fmla="val 50000"/>
            </a:avLst>
          </a:prstGeom>
          <a:solidFill>
            <a:srgbClr val="12357E"/>
          </a:solidFill>
          <a:ln/>
        </p:spPr>
      </p:sp>
      <p:sp>
        <p:nvSpPr>
          <p:cNvPr id="6" name="Text 3"/>
          <p:cNvSpPr txBox="1"/>
          <p:nvPr/>
        </p:nvSpPr>
        <p:spPr>
          <a:xfrm>
            <a:off x="1769364"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XLS-66</a:t>
            </a:r>
            <a:endParaRPr lang="en-US" sz="950" dirty="0"/>
          </a:p>
        </p:txBody>
      </p:sp>
      <p:sp>
        <p:nvSpPr>
          <p:cNvPr id="7" name="Shape 4"/>
          <p:cNvSpPr/>
          <p:nvPr/>
        </p:nvSpPr>
        <p:spPr>
          <a:xfrm>
            <a:off x="2734056" y="2057400"/>
            <a:ext cx="1198626" cy="292608"/>
          </a:xfrm>
          <a:prstGeom prst="roundRect">
            <a:avLst>
              <a:gd name="adj" fmla="val 50000"/>
            </a:avLst>
          </a:prstGeom>
          <a:solidFill>
            <a:srgbClr val="12357E"/>
          </a:solidFill>
          <a:ln/>
        </p:spPr>
      </p:sp>
      <p:sp>
        <p:nvSpPr>
          <p:cNvPr id="8" name="Text 5"/>
          <p:cNvSpPr txBox="1"/>
          <p:nvPr/>
        </p:nvSpPr>
        <p:spPr>
          <a:xfrm>
            <a:off x="2734056" y="205740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TokenEscrow</a:t>
            </a:r>
            <a:endParaRPr lang="en-US" sz="950" dirty="0"/>
          </a:p>
        </p:txBody>
      </p:sp>
      <p:sp>
        <p:nvSpPr>
          <p:cNvPr id="9" name="Text 6"/>
          <p:cNvSpPr txBox="1"/>
          <p:nvPr/>
        </p:nvSpPr>
        <p:spPr>
          <a:xfrm>
            <a:off x="758952" y="2514600"/>
            <a:ext cx="8229600" cy="1097280"/>
          </a:xfrm>
          <a:prstGeom prst="rect">
            <a:avLst/>
          </a:prstGeom>
          <a:noFill/>
          <a:ln/>
        </p:spPr>
        <p:txBody>
          <a:bodyPr wrap="square" lIns="0" tIns="0" rIns="0" bIns="0" rtlCol="0" anchor="t"/>
          <a:lstStyle/>
          <a:p>
            <a:pPr algn="l" indent="0" marL="0">
              <a:buNone/>
            </a:pPr>
            <a:r>
              <a:rPr lang="en-US" sz="6400" b="1" dirty="0">
                <a:solidFill>
                  <a:srgbClr val="FFFFFF"/>
                </a:solidFill>
                <a:latin typeface="Poppins" pitchFamily="34" charset="0"/>
                <a:ea typeface="Poppins" pitchFamily="34" charset="-122"/>
                <a:cs typeface="Poppins" pitchFamily="34" charset="-120"/>
              </a:rPr>
              <a:t>Exit Lane.</a:t>
            </a:r>
            <a:endParaRPr lang="en-US" sz="6400" dirty="0"/>
          </a:p>
        </p:txBody>
      </p:sp>
      <p:sp>
        <p:nvSpPr>
          <p:cNvPr id="10" name="Text 7"/>
          <p:cNvSpPr txBox="1"/>
          <p:nvPr/>
        </p:nvSpPr>
        <p:spPr>
          <a:xfrm>
            <a:off x="804672" y="3749040"/>
            <a:ext cx="8686800" cy="822960"/>
          </a:xfrm>
          <a:prstGeom prst="rect">
            <a:avLst/>
          </a:prstGeom>
          <a:noFill/>
          <a:ln/>
        </p:spPr>
        <p:txBody>
          <a:bodyPr wrap="square" lIns="0" tIns="0" rIns="0" bIns="0" rtlCol="0" anchor="t"/>
          <a:lstStyle/>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Un vault open-ended promet le retrait à tout moment.</a:t>
            </a:r>
            <a:endParaRPr lang="en-US" sz="1900" dirty="0"/>
          </a:p>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Il ne peut plus le tenir dès qu'il fonctionne bien.</a:t>
            </a:r>
            <a:endParaRPr lang="en-US" sz="1900" dirty="0"/>
          </a:p>
        </p:txBody>
      </p:sp>
      <p:sp>
        <p:nvSpPr>
          <p:cNvPr id="11" name="Text 8"/>
          <p:cNvSpPr txBox="1"/>
          <p:nvPr/>
        </p:nvSpPr>
        <p:spPr>
          <a:xfrm>
            <a:off x="804672" y="5897880"/>
            <a:ext cx="10579608" cy="274320"/>
          </a:xfrm>
          <a:prstGeom prst="rect">
            <a:avLst/>
          </a:prstGeom>
          <a:noFill/>
          <a:ln/>
        </p:spPr>
        <p:txBody>
          <a:bodyPr wrap="square" lIns="0" tIns="0" rIns="0" bIns="0" rtlCol="0" anchor="t"/>
          <a:lstStyle/>
          <a:p>
            <a:pPr algn="l" indent="0" marL="0">
              <a:buNone/>
            </a:pPr>
            <a:r>
              <a:rPr lang="en-US" sz="1100" dirty="0">
                <a:solidFill>
                  <a:srgbClr val="6DC3FF"/>
                </a:solidFill>
                <a:latin typeface="Poppins" pitchFamily="34" charset="0"/>
                <a:ea typeface="Poppins" pitchFamily="34" charset="-122"/>
                <a:cs typeface="Poppins" pitchFamily="34" charset="-120"/>
              </a:rPr>
              <a:t>CY-HACK   ·   Track 1, vault open-ended   ·   Custom Hackathon Devnet   ·   xrpl@4.6.0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Ouvert en droit, fermé en fait</a:t>
            </a:r>
            <a:endParaRPr lang="en-US" sz="3200" dirty="0"/>
          </a:p>
        </p:txBody>
      </p:sp>
      <p:sp>
        <p:nvSpPr>
          <p:cNvPr id="4" name="Text 1"/>
          <p:cNvSpPr txBox="1"/>
          <p:nvPr/>
        </p:nvSpPr>
        <p:spPr>
          <a:xfrm>
            <a:off x="804672" y="1828800"/>
            <a:ext cx="4389120" cy="633046"/>
          </a:xfrm>
          <a:prstGeom prst="rect">
            <a:avLst/>
          </a:prstGeom>
          <a:noFill/>
          <a:ln/>
        </p:spPr>
        <p:txBody>
          <a:bodyPr wrap="square" lIns="0" tIns="0" rIns="0" bIns="0" rtlCol="0" anchor="t"/>
          <a:lstStyle/>
          <a:p>
            <a:pPr algn="l" indent="0" marL="0">
              <a:buNone/>
            </a:pPr>
            <a:r>
              <a:rPr lang="en-US" sz="3600" b="1" dirty="0">
                <a:solidFill>
                  <a:srgbClr val="006AFF"/>
                </a:solidFill>
                <a:latin typeface="Poppins" pitchFamily="34" charset="0"/>
                <a:ea typeface="Poppins" pitchFamily="34" charset="-122"/>
                <a:cs typeface="Poppins" pitchFamily="34" charset="-120"/>
              </a:rPr>
              <a:t>100 %</a:t>
            </a:r>
            <a:endParaRPr lang="en-US" sz="3600" dirty="0"/>
          </a:p>
        </p:txBody>
      </p:sp>
      <p:sp>
        <p:nvSpPr>
          <p:cNvPr id="5" name="Text 2"/>
          <p:cNvSpPr txBox="1"/>
          <p:nvPr/>
        </p:nvSpPr>
        <p:spPr>
          <a:xfrm>
            <a:off x="804672" y="248013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du vault prêté par un seul LoanSet</a:t>
            </a:r>
            <a:endParaRPr lang="en-US" sz="1300" dirty="0"/>
          </a:p>
        </p:txBody>
      </p:sp>
      <p:sp>
        <p:nvSpPr>
          <p:cNvPr id="6" name="Text 3"/>
          <p:cNvSpPr txBox="1"/>
          <p:nvPr/>
        </p:nvSpPr>
        <p:spPr>
          <a:xfrm>
            <a:off x="804672" y="3108960"/>
            <a:ext cx="438912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 XRP</a:t>
            </a:r>
            <a:endParaRPr lang="en-US" sz="3600" dirty="0"/>
          </a:p>
        </p:txBody>
      </p:sp>
      <p:sp>
        <p:nvSpPr>
          <p:cNvPr id="7" name="Text 4"/>
          <p:cNvSpPr txBox="1"/>
          <p:nvPr/>
        </p:nvSpPr>
        <p:spPr>
          <a:xfrm>
            <a:off x="804672" y="376029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retirable par la déposante</a:t>
            </a:r>
            <a:endParaRPr lang="en-US" sz="1300" dirty="0"/>
          </a:p>
        </p:txBody>
      </p:sp>
      <p:sp>
        <p:nvSpPr>
          <p:cNvPr id="8" name="Text 5"/>
          <p:cNvSpPr txBox="1"/>
          <p:nvPr/>
        </p:nvSpPr>
        <p:spPr>
          <a:xfrm>
            <a:off x="804672" y="4389120"/>
            <a:ext cx="438912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4 mois</a:t>
            </a:r>
            <a:endParaRPr lang="en-US" sz="3600" dirty="0"/>
          </a:p>
        </p:txBody>
      </p:sp>
      <p:sp>
        <p:nvSpPr>
          <p:cNvPr id="9" name="Text 6"/>
          <p:cNvSpPr txBox="1"/>
          <p:nvPr/>
        </p:nvSpPr>
        <p:spPr>
          <a:xfrm>
            <a:off x="804672" y="504045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avant la dernière échéance</a:t>
            </a:r>
            <a:endParaRPr lang="en-US" sz="1300" dirty="0"/>
          </a:p>
        </p:txBody>
      </p:sp>
      <p:sp>
        <p:nvSpPr>
          <p:cNvPr id="10" name="Shape 7"/>
          <p:cNvSpPr/>
          <p:nvPr/>
        </p:nvSpPr>
        <p:spPr>
          <a:xfrm>
            <a:off x="5532120" y="2286000"/>
            <a:ext cx="5852160" cy="2691517"/>
          </a:xfrm>
          <a:prstGeom prst="roundRect">
            <a:avLst>
              <a:gd name="adj" fmla="val 4756"/>
            </a:avLst>
          </a:prstGeom>
          <a:solidFill>
            <a:srgbClr val="000000"/>
          </a:solidFill>
          <a:ln w="9525">
            <a:solidFill>
              <a:srgbClr val="343437"/>
            </a:solidFill>
            <a:prstDash val="solid"/>
          </a:ln>
        </p:spPr>
      </p:sp>
      <p:sp>
        <p:nvSpPr>
          <p:cNvPr id="11" name="Shape 8"/>
          <p:cNvSpPr/>
          <p:nvPr/>
        </p:nvSpPr>
        <p:spPr>
          <a:xfrm>
            <a:off x="5751576" y="2427732"/>
            <a:ext cx="100584" cy="100584"/>
          </a:xfrm>
          <a:prstGeom prst="ellipse">
            <a:avLst/>
          </a:prstGeom>
          <a:solidFill>
            <a:srgbClr val="FF5F57"/>
          </a:solidFill>
          <a:ln/>
        </p:spPr>
      </p:sp>
      <p:sp>
        <p:nvSpPr>
          <p:cNvPr id="12" name="Shape 9"/>
          <p:cNvSpPr/>
          <p:nvPr/>
        </p:nvSpPr>
        <p:spPr>
          <a:xfrm>
            <a:off x="5934456" y="2427732"/>
            <a:ext cx="100584" cy="100584"/>
          </a:xfrm>
          <a:prstGeom prst="ellipse">
            <a:avLst/>
          </a:prstGeom>
          <a:solidFill>
            <a:srgbClr val="FEBC2E"/>
          </a:solidFill>
          <a:ln/>
        </p:spPr>
      </p:sp>
      <p:sp>
        <p:nvSpPr>
          <p:cNvPr id="13" name="Shape 10"/>
          <p:cNvSpPr/>
          <p:nvPr/>
        </p:nvSpPr>
        <p:spPr>
          <a:xfrm>
            <a:off x="6117336" y="2427732"/>
            <a:ext cx="100584" cy="100584"/>
          </a:xfrm>
          <a:prstGeom prst="ellipse">
            <a:avLst/>
          </a:prstGeom>
          <a:solidFill>
            <a:srgbClr val="28C840"/>
          </a:solidFill>
          <a:ln/>
        </p:spPr>
      </p:sp>
      <p:sp>
        <p:nvSpPr>
          <p:cNvPr id="14" name="Text 11"/>
          <p:cNvSpPr txBox="1"/>
          <p:nvPr/>
        </p:nvSpPr>
        <p:spPr>
          <a:xfrm>
            <a:off x="6428232" y="2286000"/>
            <a:ext cx="475488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explorer  ›  VaultWithdraw  ›  7AB5622E…CF934</a:t>
            </a:r>
            <a:endParaRPr lang="en-US" sz="900" dirty="0"/>
          </a:p>
        </p:txBody>
      </p:sp>
      <p:sp>
        <p:nvSpPr>
          <p:cNvPr id="15" name="Shape 12"/>
          <p:cNvSpPr/>
          <p:nvPr/>
        </p:nvSpPr>
        <p:spPr>
          <a:xfrm>
            <a:off x="5532120" y="2670048"/>
            <a:ext cx="5852160" cy="9144"/>
          </a:xfrm>
          <a:prstGeom prst="rect">
            <a:avLst/>
          </a:prstGeom>
          <a:solidFill>
            <a:srgbClr val="343437"/>
          </a:solidFill>
          <a:ln/>
        </p:spPr>
      </p:sp>
      <p:pic>
        <p:nvPicPr>
          <p:cNvPr id="16" name="Image 1" descr="/Users/charlypupier/Documents/Hackathon XRPL/xrpl-lending/deck/shots/d-wall-type.png">    </p:cNvPr>
          <p:cNvPicPr>
            <a:picLocks noChangeAspect="1"/>
          </p:cNvPicPr>
          <p:nvPr/>
        </p:nvPicPr>
        <p:blipFill>
          <a:blip r:embed="rId2"/>
          <a:stretch>
            <a:fillRect/>
          </a:stretch>
        </p:blipFill>
        <p:spPr>
          <a:xfrm>
            <a:off x="5715000" y="2798064"/>
            <a:ext cx="3971109" cy="1240403"/>
          </a:xfrm>
          <a:prstGeom prst="rect">
            <a:avLst/>
          </a:prstGeom>
        </p:spPr>
      </p:pic>
      <p:pic>
        <p:nvPicPr>
          <p:cNvPr id="17" name="Image 2" descr="/Users/charlypupier/Documents/Hackathon XRPL/xrpl-lending/deck/shots/d-wall-status.png">    </p:cNvPr>
          <p:cNvPicPr>
            <a:picLocks noChangeAspect="1"/>
          </p:cNvPicPr>
          <p:nvPr/>
        </p:nvPicPr>
        <p:blipFill>
          <a:blip r:embed="rId3"/>
          <a:stretch>
            <a:fillRect/>
          </a:stretch>
        </p:blipFill>
        <p:spPr>
          <a:xfrm>
            <a:off x="5715000" y="4038467"/>
            <a:ext cx="5486400" cy="811033"/>
          </a:xfrm>
          <a:prstGeom prst="rect">
            <a:avLst/>
          </a:prstGeom>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Céder la part de vault, pas le prêt</a:t>
            </a:r>
            <a:endParaRPr lang="en-US" sz="3200" dirty="0"/>
          </a:p>
        </p:txBody>
      </p:sp>
      <p:sp>
        <p:nvSpPr>
          <p:cNvPr id="4" name="Shape 1"/>
          <p:cNvSpPr/>
          <p:nvPr/>
        </p:nvSpPr>
        <p:spPr>
          <a:xfrm>
            <a:off x="1033272" y="2395728"/>
            <a:ext cx="7934706" cy="9144"/>
          </a:xfrm>
          <a:prstGeom prst="rect">
            <a:avLst/>
          </a:prstGeom>
          <a:solidFill>
            <a:srgbClr val="E2E5E8"/>
          </a:solidFill>
          <a:ln/>
        </p:spPr>
      </p:sp>
      <p:sp>
        <p:nvSpPr>
          <p:cNvPr id="5" name="Shape 2"/>
          <p:cNvSpPr/>
          <p:nvPr/>
        </p:nvSpPr>
        <p:spPr>
          <a:xfrm>
            <a:off x="804672" y="2167128"/>
            <a:ext cx="457200" cy="457200"/>
          </a:xfrm>
          <a:prstGeom prst="ellipse">
            <a:avLst/>
          </a:prstGeom>
          <a:solidFill>
            <a:srgbClr val="006AFF"/>
          </a:solidFill>
          <a:ln/>
        </p:spPr>
      </p:sp>
      <p:sp>
        <p:nvSpPr>
          <p:cNvPr id="6" name="Text 3"/>
          <p:cNvSpPr txBox="1"/>
          <p:nvPr/>
        </p:nvSpPr>
        <p:spPr>
          <a:xfrm>
            <a:off x="804672"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7" name="Text 4"/>
          <p:cNvSpPr txBox="1"/>
          <p:nvPr/>
        </p:nvSpPr>
        <p:spPr>
          <a:xfrm>
            <a:off x="804672"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L'acheteur verrouille son paiement</a:t>
            </a:r>
            <a:endParaRPr lang="en-US" sz="1700" dirty="0"/>
          </a:p>
        </p:txBody>
      </p:sp>
      <p:sp>
        <p:nvSpPr>
          <p:cNvPr id="8" name="Shape 5"/>
          <p:cNvSpPr/>
          <p:nvPr/>
        </p:nvSpPr>
        <p:spPr>
          <a:xfrm>
            <a:off x="804672" y="4023360"/>
            <a:ext cx="1777746" cy="292608"/>
          </a:xfrm>
          <a:prstGeom prst="roundRect">
            <a:avLst>
              <a:gd name="adj" fmla="val 50000"/>
            </a:avLst>
          </a:prstGeom>
          <a:solidFill>
            <a:srgbClr val="EBF4FF"/>
          </a:solidFill>
          <a:ln/>
        </p:spPr>
      </p:sp>
      <p:sp>
        <p:nvSpPr>
          <p:cNvPr id="9" name="Text 6"/>
          <p:cNvSpPr txBox="1"/>
          <p:nvPr/>
        </p:nvSpPr>
        <p:spPr>
          <a:xfrm>
            <a:off x="804672"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+2 h</a:t>
            </a:r>
            <a:endParaRPr lang="en-US" sz="950" dirty="0"/>
          </a:p>
        </p:txBody>
      </p:sp>
      <p:sp>
        <p:nvSpPr>
          <p:cNvPr id="10" name="Shape 7"/>
          <p:cNvSpPr/>
          <p:nvPr/>
        </p:nvSpPr>
        <p:spPr>
          <a:xfrm>
            <a:off x="3449574" y="2167128"/>
            <a:ext cx="457200" cy="457200"/>
          </a:xfrm>
          <a:prstGeom prst="ellipse">
            <a:avLst/>
          </a:prstGeom>
          <a:solidFill>
            <a:srgbClr val="006AFF"/>
          </a:solidFill>
          <a:ln/>
        </p:spPr>
      </p:sp>
      <p:sp>
        <p:nvSpPr>
          <p:cNvPr id="11" name="Text 8"/>
          <p:cNvSpPr txBox="1"/>
          <p:nvPr/>
        </p:nvSpPr>
        <p:spPr>
          <a:xfrm>
            <a:off x="3449574"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2" name="Text 9"/>
          <p:cNvSpPr txBox="1"/>
          <p:nvPr/>
        </p:nvSpPr>
        <p:spPr>
          <a:xfrm>
            <a:off x="3449574"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La vendeuse verrouille ses parts</a:t>
            </a:r>
            <a:endParaRPr lang="en-US" sz="1700" dirty="0"/>
          </a:p>
        </p:txBody>
      </p:sp>
      <p:sp>
        <p:nvSpPr>
          <p:cNvPr id="13" name="Shape 10"/>
          <p:cNvSpPr/>
          <p:nvPr/>
        </p:nvSpPr>
        <p:spPr>
          <a:xfrm>
            <a:off x="3449574" y="4023360"/>
            <a:ext cx="1777746" cy="292608"/>
          </a:xfrm>
          <a:prstGeom prst="roundRect">
            <a:avLst>
              <a:gd name="adj" fmla="val 50000"/>
            </a:avLst>
          </a:prstGeom>
          <a:solidFill>
            <a:srgbClr val="EBF4FF"/>
          </a:solidFill>
          <a:ln/>
        </p:spPr>
      </p:sp>
      <p:sp>
        <p:nvSpPr>
          <p:cNvPr id="14" name="Text 11"/>
          <p:cNvSpPr txBox="1"/>
          <p:nvPr/>
        </p:nvSpPr>
        <p:spPr>
          <a:xfrm>
            <a:off x="3449574"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+1 h</a:t>
            </a:r>
            <a:endParaRPr lang="en-US" sz="950" dirty="0"/>
          </a:p>
        </p:txBody>
      </p:sp>
      <p:sp>
        <p:nvSpPr>
          <p:cNvPr id="15" name="Shape 12"/>
          <p:cNvSpPr/>
          <p:nvPr/>
        </p:nvSpPr>
        <p:spPr>
          <a:xfrm>
            <a:off x="6094476" y="2167128"/>
            <a:ext cx="457200" cy="457200"/>
          </a:xfrm>
          <a:prstGeom prst="ellipse">
            <a:avLst/>
          </a:prstGeom>
          <a:solidFill>
            <a:srgbClr val="006AFF"/>
          </a:solidFill>
          <a:ln/>
        </p:spPr>
      </p:sp>
      <p:sp>
        <p:nvSpPr>
          <p:cNvPr id="16" name="Text 13"/>
          <p:cNvSpPr txBox="1"/>
          <p:nvPr/>
        </p:nvSpPr>
        <p:spPr>
          <a:xfrm>
            <a:off x="6094476"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17" name="Text 14"/>
          <p:cNvSpPr txBox="1"/>
          <p:nvPr/>
        </p:nvSpPr>
        <p:spPr>
          <a:xfrm>
            <a:off x="6094476"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L'acheteur prend les parts et révèle le secret</a:t>
            </a:r>
            <a:endParaRPr lang="en-US" sz="1700" dirty="0"/>
          </a:p>
        </p:txBody>
      </p:sp>
      <p:sp>
        <p:nvSpPr>
          <p:cNvPr id="18" name="Shape 15"/>
          <p:cNvSpPr/>
          <p:nvPr/>
        </p:nvSpPr>
        <p:spPr>
          <a:xfrm>
            <a:off x="6094476" y="4023360"/>
            <a:ext cx="1271016" cy="292608"/>
          </a:xfrm>
          <a:prstGeom prst="roundRect">
            <a:avLst>
              <a:gd name="adj" fmla="val 50000"/>
            </a:avLst>
          </a:prstGeom>
          <a:solidFill>
            <a:srgbClr val="EBF4FF"/>
          </a:solidFill>
          <a:ln/>
        </p:spPr>
      </p:sp>
      <p:sp>
        <p:nvSpPr>
          <p:cNvPr id="19" name="Text 16"/>
          <p:cNvSpPr txBox="1"/>
          <p:nvPr/>
        </p:nvSpPr>
        <p:spPr>
          <a:xfrm>
            <a:off x="6094476"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0" name="Shape 17"/>
          <p:cNvSpPr/>
          <p:nvPr/>
        </p:nvSpPr>
        <p:spPr>
          <a:xfrm>
            <a:off x="8739378" y="2167128"/>
            <a:ext cx="457200" cy="457200"/>
          </a:xfrm>
          <a:prstGeom prst="ellipse">
            <a:avLst/>
          </a:prstGeom>
          <a:solidFill>
            <a:srgbClr val="006AFF"/>
          </a:solidFill>
          <a:ln/>
        </p:spPr>
      </p:sp>
      <p:sp>
        <p:nvSpPr>
          <p:cNvPr id="21" name="Text 18"/>
          <p:cNvSpPr txBox="1"/>
          <p:nvPr/>
        </p:nvSpPr>
        <p:spPr>
          <a:xfrm>
            <a:off x="8739378"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2" name="Text 19"/>
          <p:cNvSpPr txBox="1"/>
          <p:nvPr/>
        </p:nvSpPr>
        <p:spPr>
          <a:xfrm>
            <a:off x="8739378"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La vendeuse relit le secret et encaisse</a:t>
            </a:r>
            <a:endParaRPr lang="en-US" sz="1700" dirty="0"/>
          </a:p>
        </p:txBody>
      </p:sp>
      <p:sp>
        <p:nvSpPr>
          <p:cNvPr id="23" name="Shape 20"/>
          <p:cNvSpPr/>
          <p:nvPr/>
        </p:nvSpPr>
        <p:spPr>
          <a:xfrm>
            <a:off x="8739378" y="4023360"/>
            <a:ext cx="1271016" cy="292608"/>
          </a:xfrm>
          <a:prstGeom prst="roundRect">
            <a:avLst>
              <a:gd name="adj" fmla="val 50000"/>
            </a:avLst>
          </a:prstGeom>
          <a:solidFill>
            <a:srgbClr val="EBF4FF"/>
          </a:solidFill>
          <a:ln/>
        </p:spPr>
      </p:sp>
      <p:sp>
        <p:nvSpPr>
          <p:cNvPr id="24" name="Text 21"/>
          <p:cNvSpPr txBox="1"/>
          <p:nvPr/>
        </p:nvSpPr>
        <p:spPr>
          <a:xfrm>
            <a:off x="8739378"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5" name="Shape 22"/>
          <p:cNvSpPr/>
          <p:nvPr/>
        </p:nvSpPr>
        <p:spPr>
          <a:xfrm>
            <a:off x="804672" y="4892040"/>
            <a:ext cx="10579608" cy="9144"/>
          </a:xfrm>
          <a:prstGeom prst="rect">
            <a:avLst/>
          </a:prstGeom>
          <a:solidFill>
            <a:srgbClr val="E2E5E8"/>
          </a:solidFill>
          <a:ln/>
        </p:spPr>
      </p:sp>
      <p:sp>
        <p:nvSpPr>
          <p:cNvPr id="26" name="Text 23"/>
          <p:cNvSpPr txBox="1"/>
          <p:nvPr/>
        </p:nvSpPr>
        <p:spPr>
          <a:xfrm>
            <a:off x="804672" y="5120640"/>
            <a:ext cx="5120640" cy="320040"/>
          </a:xfrm>
          <a:prstGeom prst="rect">
            <a:avLst/>
          </a:prstGeom>
          <a:noFill/>
          <a:ln/>
        </p:spPr>
        <p:txBody>
          <a:bodyPr wrap="square" lIns="0" tIns="0" rIns="0" bIns="0" rtlCol="0" anchor="t"/>
          <a:lstStyle/>
          <a:p>
            <a:pPr algn="l" indent="0" marL="0">
              <a:buNone/>
            </a:pPr>
            <a:r>
              <a:rPr lang="en-US" sz="1600" dirty="0">
                <a:solidFill>
                  <a:srgbClr val="001C5C"/>
                </a:solidFill>
                <a:latin typeface="Poppins Medium" pitchFamily="34" charset="0"/>
                <a:ea typeface="Poppins Medium" pitchFamily="34" charset="-122"/>
                <a:cs typeface="Poppins Medium" pitchFamily="34" charset="-120"/>
              </a:rPr>
              <a:t>Prix : 97 % de la valeur de part.</a:t>
            </a:r>
            <a:endParaRPr lang="en-US" sz="1600" dirty="0"/>
          </a:p>
        </p:txBody>
      </p:sp>
      <p:sp>
        <p:nvSpPr>
          <p:cNvPr id="27" name="Text 24"/>
          <p:cNvSpPr txBox="1"/>
          <p:nvPr/>
        </p:nvSpPr>
        <p:spPr>
          <a:xfrm>
            <a:off x="6108192" y="5120640"/>
            <a:ext cx="5303520"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pitchFamily="34" charset="0"/>
                <a:ea typeface="Poppins" pitchFamily="34" charset="-122"/>
                <a:cs typeface="Poppins" pitchFamily="34" charset="-120"/>
              </a:rPr>
              <a:t>Une seule condition SHA-256 pour les deux escrows.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758952" y="2514600"/>
            <a:ext cx="4754880" cy="914400"/>
          </a:xfrm>
          <a:prstGeom prst="rect">
            <a:avLst/>
          </a:prstGeom>
          <a:noFill/>
          <a:ln/>
        </p:spPr>
        <p:txBody>
          <a:bodyPr wrap="square" lIns="0" tIns="0" rIns="0" bIns="0" rtlCol="0" anchor="t"/>
          <a:lstStyle/>
          <a:p>
            <a:pPr algn="l" indent="0" marL="0">
              <a:buNone/>
            </a:pPr>
            <a:r>
              <a:rPr lang="en-US" sz="5600" b="1" dirty="0">
                <a:solidFill>
                  <a:srgbClr val="FFFFFF"/>
                </a:solidFill>
                <a:latin typeface="Poppins" pitchFamily="34" charset="0"/>
                <a:ea typeface="Poppins" pitchFamily="34" charset="-122"/>
                <a:cs typeface="Poppins" pitchFamily="34" charset="-120"/>
              </a:rPr>
              <a:t>Démo live.</a:t>
            </a:r>
            <a:endParaRPr lang="en-US" sz="5600" dirty="0"/>
          </a:p>
        </p:txBody>
      </p:sp>
      <p:sp>
        <p:nvSpPr>
          <p:cNvPr id="4" name="Text 1"/>
          <p:cNvSpPr txBox="1"/>
          <p:nvPr/>
        </p:nvSpPr>
        <p:spPr>
          <a:xfrm>
            <a:off x="804672" y="3566160"/>
            <a:ext cx="4572000" cy="731520"/>
          </a:xfrm>
          <a:prstGeom prst="rect">
            <a:avLst/>
          </a:prstGeom>
          <a:noFill/>
          <a:ln/>
        </p:spPr>
        <p:txBody>
          <a:bodyPr wrap="square" lIns="0" tIns="0" rIns="0" bIns="0" rtlCol="0" anchor="t"/>
          <a:lstStyle/>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13 transactions en 56 secondes,</a:t>
            </a:r>
            <a:endParaRPr lang="en-US" sz="1800" dirty="0"/>
          </a:p>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sur le devnet, en direct.</a:t>
            </a:r>
            <a:endParaRPr lang="en-US" sz="1800" dirty="0"/>
          </a:p>
        </p:txBody>
      </p:sp>
      <p:sp>
        <p:nvSpPr>
          <p:cNvPr id="5" name="Shape 2"/>
          <p:cNvSpPr/>
          <p:nvPr/>
        </p:nvSpPr>
        <p:spPr>
          <a:xfrm>
            <a:off x="5806440" y="1417320"/>
            <a:ext cx="5577840" cy="4398264"/>
          </a:xfrm>
          <a:prstGeom prst="roundRect">
            <a:avLst>
              <a:gd name="adj" fmla="val 2911"/>
            </a:avLst>
          </a:prstGeom>
          <a:solidFill>
            <a:srgbClr val="000000"/>
          </a:solidFill>
          <a:ln w="9525">
            <a:solidFill>
              <a:srgbClr val="343437"/>
            </a:solidFill>
            <a:prstDash val="solid"/>
          </a:ln>
        </p:spPr>
      </p:sp>
      <p:sp>
        <p:nvSpPr>
          <p:cNvPr id="6" name="Shape 3"/>
          <p:cNvSpPr/>
          <p:nvPr/>
        </p:nvSpPr>
        <p:spPr>
          <a:xfrm>
            <a:off x="6025896" y="1559052"/>
            <a:ext cx="100584" cy="100584"/>
          </a:xfrm>
          <a:prstGeom prst="ellipse">
            <a:avLst/>
          </a:prstGeom>
          <a:solidFill>
            <a:srgbClr val="FF5F57"/>
          </a:solidFill>
          <a:ln/>
        </p:spPr>
      </p:sp>
      <p:sp>
        <p:nvSpPr>
          <p:cNvPr id="7" name="Shape 4"/>
          <p:cNvSpPr/>
          <p:nvPr/>
        </p:nvSpPr>
        <p:spPr>
          <a:xfrm>
            <a:off x="6208776" y="1559052"/>
            <a:ext cx="100584" cy="100584"/>
          </a:xfrm>
          <a:prstGeom prst="ellipse">
            <a:avLst/>
          </a:prstGeom>
          <a:solidFill>
            <a:srgbClr val="FEBC2E"/>
          </a:solidFill>
          <a:ln/>
        </p:spPr>
      </p:sp>
      <p:sp>
        <p:nvSpPr>
          <p:cNvPr id="8" name="Shape 5"/>
          <p:cNvSpPr/>
          <p:nvPr/>
        </p:nvSpPr>
        <p:spPr>
          <a:xfrm>
            <a:off x="6391656" y="1559052"/>
            <a:ext cx="100584" cy="100584"/>
          </a:xfrm>
          <a:prstGeom prst="ellipse">
            <a:avLst/>
          </a:prstGeom>
          <a:solidFill>
            <a:srgbClr val="28C840"/>
          </a:solidFill>
          <a:ln/>
        </p:spPr>
      </p:sp>
      <p:sp>
        <p:nvSpPr>
          <p:cNvPr id="9" name="Text 6"/>
          <p:cNvSpPr txBox="1"/>
          <p:nvPr/>
        </p:nvSpPr>
        <p:spPr>
          <a:xfrm>
            <a:off x="6702552" y="1417320"/>
            <a:ext cx="448056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~/xrpl-lending  $ node scripts/demo.mjs --auto</a:t>
            </a:r>
            <a:endParaRPr lang="en-US" sz="900" dirty="0"/>
          </a:p>
        </p:txBody>
      </p:sp>
      <p:sp>
        <p:nvSpPr>
          <p:cNvPr id="10" name="Shape 7"/>
          <p:cNvSpPr/>
          <p:nvPr/>
        </p:nvSpPr>
        <p:spPr>
          <a:xfrm>
            <a:off x="5806440" y="1801368"/>
            <a:ext cx="5577840" cy="9144"/>
          </a:xfrm>
          <a:prstGeom prst="rect">
            <a:avLst/>
          </a:prstGeom>
          <a:solidFill>
            <a:srgbClr val="343437"/>
          </a:solidFill>
          <a:ln/>
        </p:spPr>
      </p:sp>
      <p:sp>
        <p:nvSpPr>
          <p:cNvPr id="11" name="Text 8"/>
          <p:cNvSpPr txBox="1"/>
          <p:nvPr/>
        </p:nvSpPr>
        <p:spPr>
          <a:xfrm>
            <a:off x="6281928" y="196596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VaultCreate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2" name="Text 9"/>
          <p:cNvSpPr txBox="1"/>
          <p:nvPr/>
        </p:nvSpPr>
        <p:spPr>
          <a:xfrm>
            <a:off x="6281928" y="224942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3" name="Text 10"/>
          <p:cNvSpPr txBox="1"/>
          <p:nvPr/>
        </p:nvSpPr>
        <p:spPr>
          <a:xfrm>
            <a:off x="6281928" y="253288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LoanBrokerSet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4" name="Text 11"/>
          <p:cNvSpPr txBox="1"/>
          <p:nvPr/>
        </p:nvSpPr>
        <p:spPr>
          <a:xfrm>
            <a:off x="6281928" y="281635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LoanBrokerCoverDeposit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5" name="Text 12"/>
          <p:cNvSpPr txBox="1"/>
          <p:nvPr/>
        </p:nvSpPr>
        <p:spPr>
          <a:xfrm>
            <a:off x="6281928" y="309981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LoanSet 100 %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6" name="Shape 13"/>
          <p:cNvSpPr/>
          <p:nvPr/>
        </p:nvSpPr>
        <p:spPr>
          <a:xfrm>
            <a:off x="6080760" y="3483864"/>
            <a:ext cx="82296" cy="82296"/>
          </a:xfrm>
          <a:prstGeom prst="ellipse">
            <a:avLst/>
          </a:prstGeom>
          <a:solidFill>
            <a:srgbClr val="FF884B"/>
          </a:solidFill>
          <a:ln/>
        </p:spPr>
      </p:sp>
      <p:sp>
        <p:nvSpPr>
          <p:cNvPr id="17" name="Text 14"/>
          <p:cNvSpPr txBox="1"/>
          <p:nvPr/>
        </p:nvSpPr>
        <p:spPr>
          <a:xfrm>
            <a:off x="6281928" y="338328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FF884B"/>
                </a:solidFill>
                <a:latin typeface="Menlo" pitchFamily="34" charset="0"/>
                <a:ea typeface="Menlo" pitchFamily="34" charset="-122"/>
                <a:cs typeface="Menlo" pitchFamily="34" charset="-120"/>
              </a:rPr>
              <a:t>tecINSUFFICIENT_FUNDS</a:t>
            </a:r>
            <a:endParaRPr lang="en-US" sz="1150" dirty="0"/>
          </a:p>
        </p:txBody>
      </p:sp>
      <p:sp>
        <p:nvSpPr>
          <p:cNvPr id="18" name="Text 15"/>
          <p:cNvSpPr txBox="1"/>
          <p:nvPr/>
        </p:nvSpPr>
        <p:spPr>
          <a:xfrm>
            <a:off x="6281928" y="366674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MPTokenAuthorize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9" name="Text 16"/>
          <p:cNvSpPr txBox="1"/>
          <p:nvPr/>
        </p:nvSpPr>
        <p:spPr>
          <a:xfrm>
            <a:off x="6281928" y="395020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EscrowCreate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0" name="Text 17"/>
          <p:cNvSpPr txBox="1"/>
          <p:nvPr/>
        </p:nvSpPr>
        <p:spPr>
          <a:xfrm>
            <a:off x="6281928" y="423367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EscrowFinish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1" name="Text 18"/>
          <p:cNvSpPr txBox="1"/>
          <p:nvPr/>
        </p:nvSpPr>
        <p:spPr>
          <a:xfrm>
            <a:off x="6281928" y="451713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LoanPay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2" name="Text 19"/>
          <p:cNvSpPr txBox="1"/>
          <p:nvPr/>
        </p:nvSpPr>
        <p:spPr>
          <a:xfrm>
            <a:off x="6281928" y="480060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3" name="Text 20"/>
          <p:cNvSpPr txBox="1"/>
          <p:nvPr/>
        </p:nvSpPr>
        <p:spPr>
          <a:xfrm>
            <a:off x="6281928" y="5367528"/>
            <a:ext cx="4846320" cy="283464"/>
          </a:xfrm>
          <a:prstGeom prst="rect">
            <a:avLst/>
          </a:prstGeom>
          <a:noFill/>
          <a:ln/>
        </p:spPr>
        <p:txBody>
          <a:bodyPr wrap="square" lIns="0" tIns="0" rIns="0" bIns="0" rtlCol="0" anchor="ctr"/>
          <a:lstStyle/>
          <a:p>
            <a:pPr indent="0" marL="0">
              <a:buNone/>
            </a:pPr>
            <a:r>
              <a:rPr lang="en-US" sz="1150" dirty="0">
                <a:solidFill>
                  <a:srgbClr val="A2A2A4"/>
                </a:solidFill>
                <a:latin typeface="Menlo" pitchFamily="34" charset="0"/>
                <a:ea typeface="Menlo" pitchFamily="34" charset="-122"/>
                <a:cs typeface="Menlo" pitchFamily="34" charset="-120"/>
              </a:rPr>
              <a:t>Durée totale  00:56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Minimum bar : 8 sur 8</a:t>
            </a:r>
            <a:endParaRPr lang="en-US" sz="3200" dirty="0"/>
          </a:p>
        </p:txBody>
      </p:sp>
      <p:sp>
        <p:nvSpPr>
          <p:cNvPr id="4" name="Shape 1"/>
          <p:cNvSpPr/>
          <p:nvPr/>
        </p:nvSpPr>
        <p:spPr>
          <a:xfrm>
            <a:off x="804672" y="1783080"/>
            <a:ext cx="6675120" cy="3822192"/>
          </a:xfrm>
          <a:prstGeom prst="roundRect">
            <a:avLst>
              <a:gd name="adj" fmla="val 3349"/>
            </a:avLst>
          </a:prstGeom>
          <a:solidFill>
            <a:srgbClr val="000000"/>
          </a:solidFill>
          <a:ln w="9525">
            <a:solidFill>
              <a:srgbClr val="343437"/>
            </a:solidFill>
            <a:prstDash val="solid"/>
          </a:ln>
        </p:spPr>
      </p:sp>
      <p:sp>
        <p:nvSpPr>
          <p:cNvPr id="5" name="Shape 2"/>
          <p:cNvSpPr/>
          <p:nvPr/>
        </p:nvSpPr>
        <p:spPr>
          <a:xfrm>
            <a:off x="1024128" y="1924812"/>
            <a:ext cx="100584" cy="100584"/>
          </a:xfrm>
          <a:prstGeom prst="ellipse">
            <a:avLst/>
          </a:prstGeom>
          <a:solidFill>
            <a:srgbClr val="FF5F57"/>
          </a:solidFill>
          <a:ln/>
        </p:spPr>
      </p:sp>
      <p:sp>
        <p:nvSpPr>
          <p:cNvPr id="6" name="Shape 3"/>
          <p:cNvSpPr/>
          <p:nvPr/>
        </p:nvSpPr>
        <p:spPr>
          <a:xfrm>
            <a:off x="1207008" y="1924812"/>
            <a:ext cx="100584" cy="100584"/>
          </a:xfrm>
          <a:prstGeom prst="ellipse">
            <a:avLst/>
          </a:prstGeom>
          <a:solidFill>
            <a:srgbClr val="FEBC2E"/>
          </a:solidFill>
          <a:ln/>
        </p:spPr>
      </p:sp>
      <p:sp>
        <p:nvSpPr>
          <p:cNvPr id="7" name="Shape 4"/>
          <p:cNvSpPr/>
          <p:nvPr/>
        </p:nvSpPr>
        <p:spPr>
          <a:xfrm>
            <a:off x="1389888" y="1924812"/>
            <a:ext cx="100584" cy="100584"/>
          </a:xfrm>
          <a:prstGeom prst="ellipse">
            <a:avLst/>
          </a:prstGeom>
          <a:solidFill>
            <a:srgbClr val="28C840"/>
          </a:solidFill>
          <a:ln/>
        </p:spPr>
      </p:sp>
      <p:sp>
        <p:nvSpPr>
          <p:cNvPr id="8" name="Text 5"/>
          <p:cNvSpPr txBox="1"/>
          <p:nvPr/>
        </p:nvSpPr>
        <p:spPr>
          <a:xfrm>
            <a:off x="1700784" y="1783080"/>
            <a:ext cx="557784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README.md  ›  un hash par étape</a:t>
            </a:r>
            <a:endParaRPr lang="en-US" sz="900" dirty="0"/>
          </a:p>
        </p:txBody>
      </p:sp>
      <p:sp>
        <p:nvSpPr>
          <p:cNvPr id="9" name="Shape 6"/>
          <p:cNvSpPr/>
          <p:nvPr/>
        </p:nvSpPr>
        <p:spPr>
          <a:xfrm>
            <a:off x="804672" y="2167128"/>
            <a:ext cx="6675120" cy="9144"/>
          </a:xfrm>
          <a:prstGeom prst="rect">
            <a:avLst/>
          </a:prstGeom>
          <a:solidFill>
            <a:srgbClr val="343437"/>
          </a:solidFill>
          <a:ln/>
        </p:spPr>
      </p:sp>
      <p:sp>
        <p:nvSpPr>
          <p:cNvPr id="10" name="Text 7"/>
          <p:cNvSpPr txBox="1"/>
          <p:nvPr/>
        </p:nvSpPr>
        <p:spPr>
          <a:xfrm>
            <a:off x="1280160" y="233172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1  Vault open-ended        </a:t>
            </a:r>
            <a:pPr indent="0" marL="0">
              <a:buNone/>
            </a:pPr>
            <a:r>
              <a:rPr lang="en-US" sz="1200" dirty="0">
                <a:solidFill>
                  <a:srgbClr val="B480FF"/>
                </a:solidFill>
                <a:latin typeface="Menlo" pitchFamily="34" charset="0"/>
                <a:ea typeface="Menlo" pitchFamily="34" charset="-122"/>
                <a:cs typeface="Menlo" pitchFamily="34" charset="-120"/>
              </a:rPr>
              <a:t>VaultCreate</a:t>
            </a:r>
            <a:endParaRPr lang="en-US" sz="1200" dirty="0"/>
          </a:p>
        </p:txBody>
      </p:sp>
      <p:sp>
        <p:nvSpPr>
          <p:cNvPr id="11" name="Text 8"/>
          <p:cNvSpPr txBox="1"/>
          <p:nvPr/>
        </p:nvSpPr>
        <p:spPr>
          <a:xfrm>
            <a:off x="1280160" y="264261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2  Dépôt                   </a:t>
            </a:r>
            <a:pPr indent="0" marL="0">
              <a:buNone/>
            </a:pPr>
            <a:r>
              <a:rPr lang="en-US" sz="1200" dirty="0">
                <a:solidFill>
                  <a:srgbClr val="B480FF"/>
                </a:solidFill>
                <a:latin typeface="Menlo" pitchFamily="34" charset="0"/>
                <a:ea typeface="Menlo" pitchFamily="34" charset="-122"/>
                <a:cs typeface="Menlo" pitchFamily="34" charset="-120"/>
              </a:rPr>
              <a:t>VaultDeposit</a:t>
            </a:r>
            <a:endParaRPr lang="en-US" sz="1200" dirty="0"/>
          </a:p>
        </p:txBody>
      </p:sp>
      <p:sp>
        <p:nvSpPr>
          <p:cNvPr id="12" name="Text 9"/>
          <p:cNvSpPr txBox="1"/>
          <p:nvPr/>
        </p:nvSpPr>
        <p:spPr>
          <a:xfrm>
            <a:off x="1280160" y="295351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3  Broker + couverture     </a:t>
            </a:r>
            <a:pPr indent="0" marL="0">
              <a:buNone/>
            </a:pPr>
            <a:r>
              <a:rPr lang="en-US" sz="1200" dirty="0">
                <a:solidFill>
                  <a:srgbClr val="B480FF"/>
                </a:solidFill>
                <a:latin typeface="Menlo" pitchFamily="34" charset="0"/>
                <a:ea typeface="Menlo" pitchFamily="34" charset="-122"/>
                <a:cs typeface="Menlo" pitchFamily="34" charset="-120"/>
              </a:rPr>
              <a:t>LoanBrokerSet</a:t>
            </a:r>
            <a:endParaRPr lang="en-US" sz="1200" dirty="0"/>
          </a:p>
        </p:txBody>
      </p:sp>
      <p:sp>
        <p:nvSpPr>
          <p:cNvPr id="13" name="Text 10"/>
          <p:cNvSpPr txBox="1"/>
          <p:nvPr/>
        </p:nvSpPr>
        <p:spPr>
          <a:xfrm>
            <a:off x="1280160" y="3264408"/>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4  Origination + drawdown  </a:t>
            </a:r>
            <a:pPr indent="0" marL="0">
              <a:buNone/>
            </a:pPr>
            <a:r>
              <a:rPr lang="en-US" sz="1200" dirty="0">
                <a:solidFill>
                  <a:srgbClr val="B480FF"/>
                </a:solidFill>
                <a:latin typeface="Menlo" pitchFamily="34" charset="0"/>
                <a:ea typeface="Menlo" pitchFamily="34" charset="-122"/>
                <a:cs typeface="Menlo" pitchFamily="34" charset="-120"/>
              </a:rPr>
              <a:t>LoanSet</a:t>
            </a:r>
            <a:endParaRPr lang="en-US" sz="1200" dirty="0"/>
          </a:p>
        </p:txBody>
      </p:sp>
      <p:sp>
        <p:nvSpPr>
          <p:cNvPr id="14" name="Text 11"/>
          <p:cNvSpPr txBox="1"/>
          <p:nvPr/>
        </p:nvSpPr>
        <p:spPr>
          <a:xfrm>
            <a:off x="1280160" y="3575304"/>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5  Remboursement           </a:t>
            </a:r>
            <a:pPr indent="0" marL="0">
              <a:buNone/>
            </a:pPr>
            <a:r>
              <a:rPr lang="en-US" sz="1200" dirty="0">
                <a:solidFill>
                  <a:srgbClr val="B480FF"/>
                </a:solidFill>
                <a:latin typeface="Menlo" pitchFamily="34" charset="0"/>
                <a:ea typeface="Menlo" pitchFamily="34" charset="-122"/>
                <a:cs typeface="Menlo" pitchFamily="34" charset="-120"/>
              </a:rPr>
              <a:t>LoanPay</a:t>
            </a:r>
            <a:endParaRPr lang="en-US" sz="1200" dirty="0"/>
          </a:p>
        </p:txBody>
      </p:sp>
      <p:sp>
        <p:nvSpPr>
          <p:cNvPr id="15" name="Text 12"/>
          <p:cNvSpPr txBox="1"/>
          <p:nvPr/>
        </p:nvSpPr>
        <p:spPr>
          <a:xfrm>
            <a:off x="1280160" y="388620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6  Capital + rendement     </a:t>
            </a:r>
            <a:pPr indent="0" marL="0">
              <a:buNone/>
            </a:pPr>
            <a:r>
              <a:rPr lang="en-US" sz="1200" dirty="0">
                <a:solidFill>
                  <a:srgbClr val="B480FF"/>
                </a:solidFill>
                <a:latin typeface="Menlo" pitchFamily="34" charset="0"/>
                <a:ea typeface="Menlo" pitchFamily="34" charset="-122"/>
                <a:cs typeface="Menlo" pitchFamily="34" charset="-120"/>
              </a:rPr>
              <a:t>VaultWithdraw</a:t>
            </a:r>
            <a:endParaRPr lang="en-US" sz="1200" dirty="0"/>
          </a:p>
        </p:txBody>
      </p:sp>
      <p:sp>
        <p:nvSpPr>
          <p:cNvPr id="16" name="Text 13"/>
          <p:cNvSpPr txBox="1"/>
          <p:nvPr/>
        </p:nvSpPr>
        <p:spPr>
          <a:xfrm>
            <a:off x="1280160" y="419709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7  Garde-fous provoqués    </a:t>
            </a:r>
            <a:pPr indent="0" marL="0">
              <a:buNone/>
            </a:pPr>
            <a:r>
              <a:rPr lang="en-US" sz="1200" dirty="0">
                <a:solidFill>
                  <a:srgbClr val="FF884B"/>
                </a:solidFill>
                <a:latin typeface="Menlo" pitchFamily="34" charset="0"/>
                <a:ea typeface="Menlo" pitchFamily="34" charset="-122"/>
                <a:cs typeface="Menlo" pitchFamily="34" charset="-120"/>
              </a:rPr>
              <a:t>5 × tec + 1 contrôle</a:t>
            </a:r>
            <a:endParaRPr lang="en-US" sz="1200" dirty="0"/>
          </a:p>
        </p:txBody>
      </p:sp>
      <p:sp>
        <p:nvSpPr>
          <p:cNvPr id="17" name="Text 14"/>
          <p:cNvSpPr txBox="1"/>
          <p:nvPr/>
        </p:nvSpPr>
        <p:spPr>
          <a:xfrm>
            <a:off x="1280160" y="450799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8  Use case                </a:t>
            </a:r>
            <a:pPr indent="0" marL="0">
              <a:buNone/>
            </a:pPr>
            <a:r>
              <a:rPr lang="en-US" sz="1200" dirty="0">
                <a:solidFill>
                  <a:srgbClr val="B480FF"/>
                </a:solidFill>
                <a:latin typeface="Menlo" pitchFamily="34" charset="0"/>
                <a:ea typeface="Menlo" pitchFamily="34" charset="-122"/>
                <a:cs typeface="Menlo" pitchFamily="34" charset="-120"/>
              </a:rPr>
              <a:t>Exit Lane</a:t>
            </a:r>
            <a:endParaRPr lang="en-US" sz="1200" dirty="0"/>
          </a:p>
        </p:txBody>
      </p:sp>
      <p:sp>
        <p:nvSpPr>
          <p:cNvPr id="18" name="Text 15"/>
          <p:cNvSpPr txBox="1"/>
          <p:nvPr/>
        </p:nvSpPr>
        <p:spPr>
          <a:xfrm>
            <a:off x="1280160" y="5129784"/>
            <a:ext cx="5943600" cy="310896"/>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   valeur de part  1.000000000  →  </a:t>
            </a:r>
            <a:pPr indent="0" marL="0">
              <a:buNone/>
            </a:pPr>
            <a:r>
              <a:rPr lang="en-US" sz="1200" dirty="0">
                <a:solidFill>
                  <a:srgbClr val="84F0B6"/>
                </a:solidFill>
                <a:latin typeface="Menlo" pitchFamily="34" charset="0"/>
                <a:ea typeface="Menlo" pitchFamily="34" charset="-122"/>
                <a:cs typeface="Menlo" pitchFamily="34" charset="-120"/>
              </a:rPr>
              <a:t>1.006443880</a:t>
            </a:r>
            <a:endParaRPr lang="en-US" sz="1200" dirty="0"/>
          </a:p>
        </p:txBody>
      </p:sp>
      <p:sp>
        <p:nvSpPr>
          <p:cNvPr id="19" name="Text 16"/>
          <p:cNvSpPr txBox="1"/>
          <p:nvPr/>
        </p:nvSpPr>
        <p:spPr>
          <a:xfrm>
            <a:off x="8092440" y="205740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15 / 15</a:t>
            </a:r>
            <a:endParaRPr lang="en-US" sz="4400" dirty="0"/>
          </a:p>
        </p:txBody>
      </p:sp>
      <p:sp>
        <p:nvSpPr>
          <p:cNvPr id="20" name="Text 17"/>
          <p:cNvSpPr txBox="1"/>
          <p:nvPr/>
        </p:nvSpPr>
        <p:spPr>
          <a:xfrm>
            <a:off x="8092440" y="284941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types XLS-65/66 soumis au ledger</a:t>
            </a:r>
            <a:endParaRPr lang="en-US" sz="1300" dirty="0"/>
          </a:p>
        </p:txBody>
      </p:sp>
      <p:sp>
        <p:nvSpPr>
          <p:cNvPr id="21" name="Text 18"/>
          <p:cNvSpPr txBox="1"/>
          <p:nvPr/>
        </p:nvSpPr>
        <p:spPr>
          <a:xfrm>
            <a:off x="8092440" y="370332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0</a:t>
            </a:r>
            <a:endParaRPr lang="en-US" sz="4400" dirty="0"/>
          </a:p>
        </p:txBody>
      </p:sp>
      <p:sp>
        <p:nvSpPr>
          <p:cNvPr id="22" name="Text 19"/>
          <p:cNvSpPr txBox="1"/>
          <p:nvPr/>
        </p:nvSpPr>
        <p:spPr>
          <a:xfrm>
            <a:off x="8092440" y="449533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type manquant dans xrpl@4.6.0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First-loss capital : 0,5 % d'un prêt en défaut</a:t>
            </a:r>
            <a:endParaRPr lang="en-US" sz="3200" dirty="0"/>
          </a:p>
        </p:txBody>
      </p:sp>
      <p:sp>
        <p:nvSpPr>
          <p:cNvPr id="4" name="Text 1"/>
          <p:cNvSpPr txBox="1"/>
          <p:nvPr/>
        </p:nvSpPr>
        <p:spPr>
          <a:xfrm>
            <a:off x="804672" y="178308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1 XRP</a:t>
            </a:r>
            <a:endParaRPr lang="en-US" sz="3600" dirty="0"/>
          </a:p>
        </p:txBody>
      </p:sp>
      <p:sp>
        <p:nvSpPr>
          <p:cNvPr id="5" name="Text 2"/>
          <p:cNvSpPr txBox="1"/>
          <p:nvPr/>
        </p:nvSpPr>
        <p:spPr>
          <a:xfrm>
            <a:off x="804672" y="24344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de couverture posée par le broker</a:t>
            </a:r>
            <a:endParaRPr lang="en-US" sz="1300" dirty="0"/>
          </a:p>
        </p:txBody>
      </p:sp>
      <p:sp>
        <p:nvSpPr>
          <p:cNvPr id="6" name="Text 3"/>
          <p:cNvSpPr txBox="1"/>
          <p:nvPr/>
        </p:nvSpPr>
        <p:spPr>
          <a:xfrm>
            <a:off x="804672" y="2926080"/>
            <a:ext cx="512064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0,02 XRP</a:t>
            </a:r>
            <a:endParaRPr lang="en-US" sz="3600" dirty="0"/>
          </a:p>
        </p:txBody>
      </p:sp>
      <p:sp>
        <p:nvSpPr>
          <p:cNvPr id="7" name="Text 4"/>
          <p:cNvSpPr txBox="1"/>
          <p:nvPr/>
        </p:nvSpPr>
        <p:spPr>
          <a:xfrm>
            <a:off x="804672" y="35774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prélevés sur la couverture au défaut</a:t>
            </a:r>
            <a:endParaRPr lang="en-US" sz="1300" dirty="0"/>
          </a:p>
        </p:txBody>
      </p:sp>
      <p:sp>
        <p:nvSpPr>
          <p:cNvPr id="8" name="Text 5"/>
          <p:cNvSpPr txBox="1"/>
          <p:nvPr/>
        </p:nvSpPr>
        <p:spPr>
          <a:xfrm>
            <a:off x="804672" y="406908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3,98 XRP</a:t>
            </a:r>
            <a:endParaRPr lang="en-US" sz="3600" dirty="0"/>
          </a:p>
        </p:txBody>
      </p:sp>
      <p:sp>
        <p:nvSpPr>
          <p:cNvPr id="9" name="Text 6"/>
          <p:cNvSpPr txBox="1"/>
          <p:nvPr/>
        </p:nvSpPr>
        <p:spPr>
          <a:xfrm>
            <a:off x="804672" y="47204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perdus par le déposant, 79,6 %</a:t>
            </a:r>
            <a:endParaRPr lang="en-US" sz="1300" dirty="0"/>
          </a:p>
        </p:txBody>
      </p:sp>
      <p:sp>
        <p:nvSpPr>
          <p:cNvPr id="10" name="Shape 7"/>
          <p:cNvSpPr/>
          <p:nvPr/>
        </p:nvSpPr>
        <p:spPr>
          <a:xfrm>
            <a:off x="804672" y="5230368"/>
            <a:ext cx="5394960" cy="9144"/>
          </a:xfrm>
          <a:prstGeom prst="rect">
            <a:avLst/>
          </a:prstGeom>
          <a:solidFill>
            <a:srgbClr val="E2E5E8"/>
          </a:solidFill>
          <a:ln/>
        </p:spPr>
      </p:sp>
      <p:sp>
        <p:nvSpPr>
          <p:cNvPr id="11" name="Text 8"/>
          <p:cNvSpPr txBox="1"/>
          <p:nvPr/>
        </p:nvSpPr>
        <p:spPr>
          <a:xfrm>
            <a:off x="804672" y="5394960"/>
            <a:ext cx="5669280" cy="228600"/>
          </a:xfrm>
          <a:prstGeom prst="rect">
            <a:avLst/>
          </a:prstGeom>
          <a:noFill/>
          <a:ln/>
        </p:spPr>
        <p:txBody>
          <a:bodyPr wrap="square" lIns="0" tIns="0" rIns="0" bIns="0" rtlCol="0" anchor="t"/>
          <a:lstStyle/>
          <a:p>
            <a:pPr algn="l" indent="0" marL="0">
              <a:buNone/>
            </a:pPr>
            <a:r>
              <a:rPr lang="en-US" sz="1050" dirty="0">
                <a:solidFill>
                  <a:srgbClr val="5F666E"/>
                </a:solidFill>
                <a:latin typeface="Menlo" pitchFamily="34" charset="0"/>
                <a:ea typeface="Menlo" pitchFamily="34" charset="-122"/>
                <a:cs typeface="Menlo" pitchFamily="34" charset="-120"/>
              </a:rPr>
              <a:t>4 XRP de dette × CoverRateMinimum 10 % × CoverRateLiquidation 5 %</a:t>
            </a:r>
            <a:endParaRPr lang="en-US" sz="1050" dirty="0"/>
          </a:p>
        </p:txBody>
      </p:sp>
      <p:sp>
        <p:nvSpPr>
          <p:cNvPr id="12" name="Text 9"/>
          <p:cNvSpPr txBox="1"/>
          <p:nvPr/>
        </p:nvSpPr>
        <p:spPr>
          <a:xfrm>
            <a:off x="804672" y="5715000"/>
            <a:ext cx="5486400" cy="274320"/>
          </a:xfrm>
          <a:prstGeom prst="rect">
            <a:avLst/>
          </a:prstGeom>
          <a:noFill/>
          <a:ln/>
        </p:spPr>
        <p:txBody>
          <a:bodyPr wrap="square" lIns="0" tIns="0" rIns="0" bIns="0" rtlCol="0" anchor="t"/>
          <a:lstStyle/>
          <a:p>
            <a:pPr algn="l" indent="0" marL="0">
              <a:buNone/>
            </a:pPr>
            <a:r>
              <a:rPr lang="en-US" sz="1250" dirty="0">
                <a:solidFill>
                  <a:srgbClr val="8A9199"/>
                </a:solidFill>
                <a:latin typeface="Poppins" pitchFamily="34" charset="0"/>
                <a:ea typeface="Poppins" pitchFamily="34" charset="-122"/>
                <a:cs typeface="Poppins" pitchFamily="34" charset="-120"/>
              </a:rPr>
              <a:t>Même ratio sur un prêt de 50 XRP : 0,25 XRP.</a:t>
            </a:r>
            <a:endParaRPr lang="en-US" sz="1250" dirty="0"/>
          </a:p>
        </p:txBody>
      </p:sp>
      <p:sp>
        <p:nvSpPr>
          <p:cNvPr id="13" name="Shape 10"/>
          <p:cNvSpPr/>
          <p:nvPr/>
        </p:nvSpPr>
        <p:spPr>
          <a:xfrm>
            <a:off x="6812280" y="1645920"/>
            <a:ext cx="4572000" cy="2322576"/>
          </a:xfrm>
          <a:prstGeom prst="roundRect">
            <a:avLst>
              <a:gd name="adj" fmla="val 5512"/>
            </a:avLst>
          </a:prstGeom>
          <a:solidFill>
            <a:srgbClr val="000000"/>
          </a:solidFill>
          <a:ln w="9525">
            <a:solidFill>
              <a:srgbClr val="343437"/>
            </a:solidFill>
            <a:prstDash val="solid"/>
          </a:ln>
        </p:spPr>
      </p:sp>
      <p:sp>
        <p:nvSpPr>
          <p:cNvPr id="14" name="Shape 11"/>
          <p:cNvSpPr/>
          <p:nvPr/>
        </p:nvSpPr>
        <p:spPr>
          <a:xfrm>
            <a:off x="7031736" y="1787652"/>
            <a:ext cx="100584" cy="100584"/>
          </a:xfrm>
          <a:prstGeom prst="ellipse">
            <a:avLst/>
          </a:prstGeom>
          <a:solidFill>
            <a:srgbClr val="FF5F57"/>
          </a:solidFill>
          <a:ln/>
        </p:spPr>
      </p:sp>
      <p:sp>
        <p:nvSpPr>
          <p:cNvPr id="15" name="Shape 12"/>
          <p:cNvSpPr/>
          <p:nvPr/>
        </p:nvSpPr>
        <p:spPr>
          <a:xfrm>
            <a:off x="7214616" y="1787652"/>
            <a:ext cx="100584" cy="100584"/>
          </a:xfrm>
          <a:prstGeom prst="ellipse">
            <a:avLst/>
          </a:prstGeom>
          <a:solidFill>
            <a:srgbClr val="FEBC2E"/>
          </a:solidFill>
          <a:ln/>
        </p:spPr>
      </p:sp>
      <p:sp>
        <p:nvSpPr>
          <p:cNvPr id="16" name="Shape 13"/>
          <p:cNvSpPr/>
          <p:nvPr/>
        </p:nvSpPr>
        <p:spPr>
          <a:xfrm>
            <a:off x="7397496" y="1787652"/>
            <a:ext cx="100584" cy="100584"/>
          </a:xfrm>
          <a:prstGeom prst="ellipse">
            <a:avLst/>
          </a:prstGeom>
          <a:solidFill>
            <a:srgbClr val="28C840"/>
          </a:solidFill>
          <a:ln/>
        </p:spPr>
      </p:sp>
      <p:sp>
        <p:nvSpPr>
          <p:cNvPr id="17" name="Text 14"/>
          <p:cNvSpPr txBox="1"/>
          <p:nvPr/>
        </p:nvSpPr>
        <p:spPr>
          <a:xfrm>
            <a:off x="7708392" y="1645920"/>
            <a:ext cx="347472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tfLoanDefault  ›  923F7D61…</a:t>
            </a:r>
            <a:endParaRPr lang="en-US" sz="900" dirty="0"/>
          </a:p>
        </p:txBody>
      </p:sp>
      <p:sp>
        <p:nvSpPr>
          <p:cNvPr id="18" name="Shape 15"/>
          <p:cNvSpPr/>
          <p:nvPr/>
        </p:nvSpPr>
        <p:spPr>
          <a:xfrm>
            <a:off x="6812280" y="2029968"/>
            <a:ext cx="4572000" cy="9144"/>
          </a:xfrm>
          <a:prstGeom prst="rect">
            <a:avLst/>
          </a:prstGeom>
          <a:solidFill>
            <a:srgbClr val="343437"/>
          </a:solidFill>
          <a:ln/>
        </p:spPr>
      </p:sp>
      <p:pic>
        <p:nvPicPr>
          <p:cNvPr id="19" name="Image 1" descr="/Users/charlypupier/Documents/Hackathon XRPL/xrpl-lending/deck/shots/f3a-type.png">    </p:cNvPr>
          <p:cNvPicPr>
            <a:picLocks noChangeAspect="1"/>
          </p:cNvPicPr>
          <p:nvPr/>
        </p:nvPicPr>
        <p:blipFill>
          <a:blip r:embed="rId2"/>
          <a:stretch>
            <a:fillRect/>
          </a:stretch>
        </p:blipFill>
        <p:spPr>
          <a:xfrm>
            <a:off x="6995160" y="2157984"/>
            <a:ext cx="3556581" cy="557349"/>
          </a:xfrm>
          <a:prstGeom prst="rect">
            <a:avLst/>
          </a:prstGeom>
        </p:spPr>
      </p:pic>
      <p:pic>
        <p:nvPicPr>
          <p:cNvPr id="20" name="Image 2" descr="/Users/charlypupier/Documents/Hackathon XRPL/xrpl-lending/deck/shots/f3a-meta.png">    </p:cNvPr>
          <p:cNvPicPr>
            <a:picLocks noChangeAspect="1"/>
          </p:cNvPicPr>
          <p:nvPr/>
        </p:nvPicPr>
        <p:blipFill>
          <a:blip r:embed="rId3"/>
          <a:stretch>
            <a:fillRect/>
          </a:stretch>
        </p:blipFill>
        <p:spPr>
          <a:xfrm>
            <a:off x="6995160" y="2715333"/>
            <a:ext cx="3786487" cy="1125147"/>
          </a:xfrm>
          <a:prstGeom prst="rect">
            <a:avLst/>
          </a:prstGeom>
        </p:spPr>
      </p:pic>
      <p:sp>
        <p:nvSpPr>
          <p:cNvPr id="21" name="Shape 16"/>
          <p:cNvSpPr/>
          <p:nvPr/>
        </p:nvSpPr>
        <p:spPr>
          <a:xfrm>
            <a:off x="6812280" y="4169664"/>
            <a:ext cx="4572000" cy="1850113"/>
          </a:xfrm>
          <a:prstGeom prst="roundRect">
            <a:avLst>
              <a:gd name="adj" fmla="val 6919"/>
            </a:avLst>
          </a:prstGeom>
          <a:solidFill>
            <a:srgbClr val="000000"/>
          </a:solidFill>
          <a:ln w="9525">
            <a:solidFill>
              <a:srgbClr val="343437"/>
            </a:solidFill>
            <a:prstDash val="solid"/>
          </a:ln>
        </p:spPr>
      </p:sp>
      <p:sp>
        <p:nvSpPr>
          <p:cNvPr id="22" name="Shape 17"/>
          <p:cNvSpPr/>
          <p:nvPr/>
        </p:nvSpPr>
        <p:spPr>
          <a:xfrm>
            <a:off x="7031736" y="4311396"/>
            <a:ext cx="100584" cy="100584"/>
          </a:xfrm>
          <a:prstGeom prst="ellipse">
            <a:avLst/>
          </a:prstGeom>
          <a:solidFill>
            <a:srgbClr val="FF5F57"/>
          </a:solidFill>
          <a:ln/>
        </p:spPr>
      </p:sp>
      <p:sp>
        <p:nvSpPr>
          <p:cNvPr id="23" name="Shape 18"/>
          <p:cNvSpPr/>
          <p:nvPr/>
        </p:nvSpPr>
        <p:spPr>
          <a:xfrm>
            <a:off x="7214616" y="4311396"/>
            <a:ext cx="100584" cy="100584"/>
          </a:xfrm>
          <a:prstGeom prst="ellipse">
            <a:avLst/>
          </a:prstGeom>
          <a:solidFill>
            <a:srgbClr val="FEBC2E"/>
          </a:solidFill>
          <a:ln/>
        </p:spPr>
      </p:sp>
      <p:sp>
        <p:nvSpPr>
          <p:cNvPr id="24" name="Shape 19"/>
          <p:cNvSpPr/>
          <p:nvPr/>
        </p:nvSpPr>
        <p:spPr>
          <a:xfrm>
            <a:off x="7397496" y="4311396"/>
            <a:ext cx="100584" cy="100584"/>
          </a:xfrm>
          <a:prstGeom prst="ellipse">
            <a:avLst/>
          </a:prstGeom>
          <a:solidFill>
            <a:srgbClr val="28C840"/>
          </a:solidFill>
          <a:ln/>
        </p:spPr>
      </p:sp>
      <p:sp>
        <p:nvSpPr>
          <p:cNvPr id="25" name="Text 20"/>
          <p:cNvSpPr txBox="1"/>
          <p:nvPr/>
        </p:nvSpPr>
        <p:spPr>
          <a:xfrm>
            <a:off x="7708392" y="4169664"/>
            <a:ext cx="347472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21 s après le défaut  ›  68DD97D9…</a:t>
            </a:r>
            <a:endParaRPr lang="en-US" sz="900" dirty="0"/>
          </a:p>
        </p:txBody>
      </p:sp>
      <p:sp>
        <p:nvSpPr>
          <p:cNvPr id="26" name="Shape 21"/>
          <p:cNvSpPr/>
          <p:nvPr/>
        </p:nvSpPr>
        <p:spPr>
          <a:xfrm>
            <a:off x="6812280" y="4553712"/>
            <a:ext cx="4572000" cy="9144"/>
          </a:xfrm>
          <a:prstGeom prst="rect">
            <a:avLst/>
          </a:prstGeom>
          <a:solidFill>
            <a:srgbClr val="343437"/>
          </a:solidFill>
          <a:ln/>
        </p:spPr>
      </p:sp>
      <p:pic>
        <p:nvPicPr>
          <p:cNvPr id="27" name="Image 3" descr="/Users/charlypupier/Documents/Hackathon XRPL/xrpl-lending/deck/shots/f3b-type.png">    </p:cNvPr>
          <p:cNvPicPr>
            <a:picLocks noChangeAspect="1"/>
          </p:cNvPicPr>
          <p:nvPr/>
        </p:nvPicPr>
        <p:blipFill>
          <a:blip r:embed="rId4"/>
          <a:stretch>
            <a:fillRect/>
          </a:stretch>
        </p:blipFill>
        <p:spPr>
          <a:xfrm>
            <a:off x="6995160" y="4681728"/>
            <a:ext cx="4206240" cy="732804"/>
          </a:xfrm>
          <a:prstGeom prst="rect">
            <a:avLst/>
          </a:prstGeom>
        </p:spPr>
      </p:pic>
      <p:pic>
        <p:nvPicPr>
          <p:cNvPr id="28" name="Image 4" descr="/Users/charlypupier/Documents/Hackathon XRPL/xrpl-lending/deck/shots/f3b-amount.png">    </p:cNvPr>
          <p:cNvPicPr>
            <a:picLocks noChangeAspect="1"/>
          </p:cNvPicPr>
          <p:nvPr/>
        </p:nvPicPr>
        <p:blipFill>
          <a:blip r:embed="rId5"/>
          <a:stretch>
            <a:fillRect/>
          </a:stretch>
        </p:blipFill>
        <p:spPr>
          <a:xfrm>
            <a:off x="6995160" y="5414532"/>
            <a:ext cx="4059936" cy="238615"/>
          </a:xfrm>
          <a:prstGeom prst="rect">
            <a:avLst/>
          </a:prstGeom>
        </p:spPr>
      </p:pic>
      <p:pic>
        <p:nvPicPr>
          <p:cNvPr id="29" name="Image 5" descr="/Users/charlypupier/Documents/Hackathon XRPL/xrpl-lending/deck/shots/f3b-date.png">    </p:cNvPr>
          <p:cNvPicPr>
            <a:picLocks noChangeAspect="1"/>
          </p:cNvPicPr>
          <p:nvPr/>
        </p:nvPicPr>
        <p:blipFill>
          <a:blip r:embed="rId6"/>
          <a:stretch>
            <a:fillRect/>
          </a:stretch>
        </p:blipFill>
        <p:spPr>
          <a:xfrm>
            <a:off x="6995160" y="5653147"/>
            <a:ext cx="4059936" cy="238615"/>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Un LoanPay en retard exige tfLoanLatePayment</a:t>
            </a:r>
            <a:endParaRPr lang="en-US" sz="3200" dirty="0"/>
          </a:p>
        </p:txBody>
      </p:sp>
      <p:sp>
        <p:nvSpPr>
          <p:cNvPr id="4" name="Text 1"/>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Prêt en retard, encore dans son délai de grâce.</a:t>
            </a:r>
            <a:endParaRPr lang="en-US" sz="1600" dirty="0"/>
          </a:p>
        </p:txBody>
      </p:sp>
      <p:sp>
        <p:nvSpPr>
          <p:cNvPr id="5" name="Shape 2"/>
          <p:cNvSpPr/>
          <p:nvPr/>
        </p:nvSpPr>
        <p:spPr>
          <a:xfrm>
            <a:off x="804672" y="2240280"/>
            <a:ext cx="5106924" cy="1969176"/>
          </a:xfrm>
          <a:prstGeom prst="roundRect">
            <a:avLst>
              <a:gd name="adj" fmla="val 6501"/>
            </a:avLst>
          </a:prstGeom>
          <a:solidFill>
            <a:srgbClr val="000000"/>
          </a:solidFill>
          <a:ln w="9525">
            <a:solidFill>
              <a:srgbClr val="343437"/>
            </a:solidFill>
            <a:prstDash val="solid"/>
          </a:ln>
        </p:spPr>
      </p:sp>
      <p:sp>
        <p:nvSpPr>
          <p:cNvPr id="6" name="Shape 3"/>
          <p:cNvSpPr/>
          <p:nvPr/>
        </p:nvSpPr>
        <p:spPr>
          <a:xfrm>
            <a:off x="1024128" y="2382012"/>
            <a:ext cx="100584" cy="100584"/>
          </a:xfrm>
          <a:prstGeom prst="ellipse">
            <a:avLst/>
          </a:prstGeom>
          <a:solidFill>
            <a:srgbClr val="FF5F57"/>
          </a:solidFill>
          <a:ln/>
        </p:spPr>
      </p:sp>
      <p:sp>
        <p:nvSpPr>
          <p:cNvPr id="7" name="Shape 4"/>
          <p:cNvSpPr/>
          <p:nvPr/>
        </p:nvSpPr>
        <p:spPr>
          <a:xfrm>
            <a:off x="1207008" y="2382012"/>
            <a:ext cx="100584" cy="100584"/>
          </a:xfrm>
          <a:prstGeom prst="ellipse">
            <a:avLst/>
          </a:prstGeom>
          <a:solidFill>
            <a:srgbClr val="FEBC2E"/>
          </a:solidFill>
          <a:ln/>
        </p:spPr>
      </p:sp>
      <p:sp>
        <p:nvSpPr>
          <p:cNvPr id="8" name="Shape 5"/>
          <p:cNvSpPr/>
          <p:nvPr/>
        </p:nvSpPr>
        <p:spPr>
          <a:xfrm>
            <a:off x="1389888" y="2382012"/>
            <a:ext cx="100584" cy="100584"/>
          </a:xfrm>
          <a:prstGeom prst="ellipse">
            <a:avLst/>
          </a:prstGeom>
          <a:solidFill>
            <a:srgbClr val="28C840"/>
          </a:solidFill>
          <a:ln/>
        </p:spPr>
      </p:sp>
      <p:sp>
        <p:nvSpPr>
          <p:cNvPr id="9" name="Text 6"/>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0  ›  96C38704…</a:t>
            </a:r>
            <a:endParaRPr lang="en-US" sz="900" dirty="0"/>
          </a:p>
        </p:txBody>
      </p:sp>
      <p:sp>
        <p:nvSpPr>
          <p:cNvPr id="10" name="Shape 7"/>
          <p:cNvSpPr/>
          <p:nvPr/>
        </p:nvSpPr>
        <p:spPr>
          <a:xfrm>
            <a:off x="804672" y="2624328"/>
            <a:ext cx="5106924" cy="9144"/>
          </a:xfrm>
          <a:prstGeom prst="rect">
            <a:avLst/>
          </a:prstGeom>
          <a:solidFill>
            <a:srgbClr val="343437"/>
          </a:solidFill>
          <a:ln/>
        </p:spPr>
      </p:sp>
      <p:pic>
        <p:nvPicPr>
          <p:cNvPr id="11" name="Image 1" descr="/Users/charlypupier/Documents/Hackathon XRPL/xrpl-lending/deck/shots/f1a-type.png">    </p:cNvPr>
          <p:cNvPicPr>
            <a:picLocks noChangeAspect="1"/>
          </p:cNvPicPr>
          <p:nvPr/>
        </p:nvPicPr>
        <p:blipFill>
          <a:blip r:embed="rId2"/>
          <a:stretch>
            <a:fillRect/>
          </a:stretch>
        </p:blipFill>
        <p:spPr>
          <a:xfrm>
            <a:off x="987552" y="2752344"/>
            <a:ext cx="4132567" cy="628229"/>
          </a:xfrm>
          <a:prstGeom prst="rect">
            <a:avLst/>
          </a:prstGeom>
        </p:spPr>
      </p:pic>
      <p:pic>
        <p:nvPicPr>
          <p:cNvPr id="12" name="Image 2" descr="/Users/charlypupier/Documents/Hackathon XRPL/xrpl-lending/deck/shots/f1a-status.png">    </p:cNvPr>
          <p:cNvPicPr>
            <a:picLocks noChangeAspect="1"/>
          </p:cNvPicPr>
          <p:nvPr/>
        </p:nvPicPr>
        <p:blipFill>
          <a:blip r:embed="rId3"/>
          <a:stretch>
            <a:fillRect/>
          </a:stretch>
        </p:blipFill>
        <p:spPr>
          <a:xfrm>
            <a:off x="987552" y="3380573"/>
            <a:ext cx="4741164" cy="700868"/>
          </a:xfrm>
          <a:prstGeom prst="rect">
            <a:avLst/>
          </a:prstGeom>
        </p:spPr>
      </p:pic>
      <p:sp>
        <p:nvSpPr>
          <p:cNvPr id="13" name="Shape 8"/>
          <p:cNvSpPr/>
          <p:nvPr/>
        </p:nvSpPr>
        <p:spPr>
          <a:xfrm>
            <a:off x="6277356" y="2240280"/>
            <a:ext cx="5106924" cy="1969176"/>
          </a:xfrm>
          <a:prstGeom prst="roundRect">
            <a:avLst>
              <a:gd name="adj" fmla="val 6501"/>
            </a:avLst>
          </a:prstGeom>
          <a:solidFill>
            <a:srgbClr val="000000"/>
          </a:solidFill>
          <a:ln w="9525">
            <a:solidFill>
              <a:srgbClr val="343437"/>
            </a:solidFill>
            <a:prstDash val="solid"/>
          </a:ln>
        </p:spPr>
      </p:sp>
      <p:sp>
        <p:nvSpPr>
          <p:cNvPr id="14" name="Shape 9"/>
          <p:cNvSpPr/>
          <p:nvPr/>
        </p:nvSpPr>
        <p:spPr>
          <a:xfrm>
            <a:off x="6496812" y="2382012"/>
            <a:ext cx="100584" cy="100584"/>
          </a:xfrm>
          <a:prstGeom prst="ellipse">
            <a:avLst/>
          </a:prstGeom>
          <a:solidFill>
            <a:srgbClr val="FF5F57"/>
          </a:solidFill>
          <a:ln/>
        </p:spPr>
      </p:sp>
      <p:sp>
        <p:nvSpPr>
          <p:cNvPr id="15" name="Shape 10"/>
          <p:cNvSpPr/>
          <p:nvPr/>
        </p:nvSpPr>
        <p:spPr>
          <a:xfrm>
            <a:off x="6679692" y="2382012"/>
            <a:ext cx="100584" cy="100584"/>
          </a:xfrm>
          <a:prstGeom prst="ellipse">
            <a:avLst/>
          </a:prstGeom>
          <a:solidFill>
            <a:srgbClr val="FEBC2E"/>
          </a:solidFill>
          <a:ln/>
        </p:spPr>
      </p:sp>
      <p:sp>
        <p:nvSpPr>
          <p:cNvPr id="16" name="Shape 11"/>
          <p:cNvSpPr/>
          <p:nvPr/>
        </p:nvSpPr>
        <p:spPr>
          <a:xfrm>
            <a:off x="6862572" y="2382012"/>
            <a:ext cx="100584" cy="100584"/>
          </a:xfrm>
          <a:prstGeom prst="ellipse">
            <a:avLst/>
          </a:prstGeom>
          <a:solidFill>
            <a:srgbClr val="28C840"/>
          </a:solidFill>
          <a:ln/>
        </p:spPr>
      </p:sp>
      <p:sp>
        <p:nvSpPr>
          <p:cNvPr id="17" name="Text 12"/>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262144  ›  EFAD383F…</a:t>
            </a:r>
            <a:endParaRPr lang="en-US" sz="900" dirty="0"/>
          </a:p>
        </p:txBody>
      </p:sp>
      <p:sp>
        <p:nvSpPr>
          <p:cNvPr id="18" name="Shape 13"/>
          <p:cNvSpPr/>
          <p:nvPr/>
        </p:nvSpPr>
        <p:spPr>
          <a:xfrm>
            <a:off x="6277356" y="2624328"/>
            <a:ext cx="5106924" cy="9144"/>
          </a:xfrm>
          <a:prstGeom prst="rect">
            <a:avLst/>
          </a:prstGeom>
          <a:solidFill>
            <a:srgbClr val="343437"/>
          </a:solidFill>
          <a:ln/>
        </p:spPr>
      </p:sp>
      <p:pic>
        <p:nvPicPr>
          <p:cNvPr id="19" name="Image 3" descr="/Users/charlypupier/Documents/Hackathon XRPL/xrpl-lending/deck/shots/f1b-type.png">    </p:cNvPr>
          <p:cNvPicPr>
            <a:picLocks noChangeAspect="1"/>
          </p:cNvPicPr>
          <p:nvPr/>
        </p:nvPicPr>
        <p:blipFill>
          <a:blip r:embed="rId4"/>
          <a:stretch>
            <a:fillRect/>
          </a:stretch>
        </p:blipFill>
        <p:spPr>
          <a:xfrm>
            <a:off x="6460236" y="2752344"/>
            <a:ext cx="3113659" cy="628229"/>
          </a:xfrm>
          <a:prstGeom prst="rect">
            <a:avLst/>
          </a:prstGeom>
        </p:spPr>
      </p:pic>
      <p:pic>
        <p:nvPicPr>
          <p:cNvPr id="20" name="Image 4" descr="/Users/charlypupier/Documents/Hackathon XRPL/xrpl-lending/deck/shots/f1b-flags.png">    </p:cNvPr>
          <p:cNvPicPr>
            <a:picLocks noChangeAspect="1"/>
          </p:cNvPicPr>
          <p:nvPr/>
        </p:nvPicPr>
        <p:blipFill>
          <a:blip r:embed="rId5"/>
          <a:stretch>
            <a:fillRect/>
          </a:stretch>
        </p:blipFill>
        <p:spPr>
          <a:xfrm>
            <a:off x="6460236" y="3380573"/>
            <a:ext cx="4741164" cy="557553"/>
          </a:xfrm>
          <a:prstGeom prst="rect">
            <a:avLst/>
          </a:prstGeom>
        </p:spPr>
      </p:pic>
      <p:sp>
        <p:nvSpPr>
          <p:cNvPr id="21" name="Shape 14"/>
          <p:cNvSpPr/>
          <p:nvPr/>
        </p:nvSpPr>
        <p:spPr>
          <a:xfrm>
            <a:off x="804672" y="4754880"/>
            <a:ext cx="10579608" cy="9144"/>
          </a:xfrm>
          <a:prstGeom prst="rect">
            <a:avLst/>
          </a:prstGeom>
          <a:solidFill>
            <a:srgbClr val="E2E5E8"/>
          </a:solidFill>
          <a:ln/>
        </p:spPr>
      </p:sp>
      <p:sp>
        <p:nvSpPr>
          <p:cNvPr id="22" name="Text 15"/>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XLS-66, §3.11.4.2</a:t>
            </a:r>
            <a:endParaRPr lang="en-US" sz="1500" dirty="0"/>
          </a:p>
        </p:txBody>
      </p:sp>
      <p:sp>
        <p:nvSpPr>
          <p:cNvPr id="23" name="Text 16"/>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l'échec est défini (condition 11).</a:t>
            </a:r>
            <a:endParaRPr lang="en-US" sz="1500" dirty="0"/>
          </a:p>
        </p:txBody>
      </p:sp>
      <p:sp>
        <p:nvSpPr>
          <p:cNvPr id="24" name="Text 17"/>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Référence LoanPay</a:t>
            </a:r>
            <a:endParaRPr lang="en-US" sz="1500" dirty="0"/>
          </a:p>
        </p:txBody>
      </p:sp>
      <p:sp>
        <p:nvSpPr>
          <p:cNvPr id="25" name="Text 18"/>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huit codes d'erreur listés sur xrpl.org, tecEXPIRED n'y figure pas.</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Huit autres constats</a:t>
            </a:r>
            <a:endParaRPr lang="en-US" sz="3200" dirty="0"/>
          </a:p>
        </p:txBody>
      </p:sp>
      <p:sp>
        <p:nvSpPr>
          <p:cNvPr id="4" name="Shape 1"/>
          <p:cNvSpPr/>
          <p:nvPr/>
        </p:nvSpPr>
        <p:spPr>
          <a:xfrm>
            <a:off x="804672" y="1783080"/>
            <a:ext cx="5015484" cy="9144"/>
          </a:xfrm>
          <a:prstGeom prst="rect">
            <a:avLst/>
          </a:prstGeom>
          <a:solidFill>
            <a:srgbClr val="E2E5E8"/>
          </a:solidFill>
          <a:ln/>
        </p:spPr>
      </p:sp>
      <p:sp>
        <p:nvSpPr>
          <p:cNvPr id="5" name="Shape 2"/>
          <p:cNvSpPr/>
          <p:nvPr/>
        </p:nvSpPr>
        <p:spPr>
          <a:xfrm>
            <a:off x="804672" y="2020824"/>
            <a:ext cx="310896" cy="310896"/>
          </a:xfrm>
          <a:prstGeom prst="ellipse">
            <a:avLst/>
          </a:prstGeom>
          <a:solidFill>
            <a:srgbClr val="001C5C"/>
          </a:solidFill>
          <a:ln/>
        </p:spPr>
      </p:sp>
      <p:sp>
        <p:nvSpPr>
          <p:cNvPr id="6" name="Text 3"/>
          <p:cNvSpPr txBox="1"/>
          <p:nvPr/>
        </p:nvSpPr>
        <p:spPr>
          <a:xfrm>
            <a:off x="804672"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1</a:t>
            </a:r>
            <a:endParaRPr lang="en-US" sz="1100" dirty="0"/>
          </a:p>
        </p:txBody>
      </p:sp>
      <p:sp>
        <p:nvSpPr>
          <p:cNvPr id="7" name="Text 4"/>
          <p:cNvSpPr txBox="1"/>
          <p:nvPr/>
        </p:nvSpPr>
        <p:spPr>
          <a:xfrm>
            <a:off x="1280160"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fixCleanup3_4_0 actif, absent d'xrpl.org</a:t>
            </a:r>
            <a:endParaRPr lang="en-US" sz="1400" dirty="0"/>
          </a:p>
        </p:txBody>
      </p:sp>
      <p:sp>
        <p:nvSpPr>
          <p:cNvPr id="8" name="Shape 5"/>
          <p:cNvSpPr/>
          <p:nvPr/>
        </p:nvSpPr>
        <p:spPr>
          <a:xfrm>
            <a:off x="1280160" y="2441448"/>
            <a:ext cx="2116836" cy="292608"/>
          </a:xfrm>
          <a:prstGeom prst="roundRect">
            <a:avLst>
              <a:gd name="adj" fmla="val 50000"/>
            </a:avLst>
          </a:prstGeom>
          <a:solidFill>
            <a:srgbClr val="EBF4FF"/>
          </a:solidFill>
          <a:ln/>
        </p:spPr>
      </p:sp>
      <p:sp>
        <p:nvSpPr>
          <p:cNvPr id="9" name="Text 6"/>
          <p:cNvSpPr txBox="1"/>
          <p:nvPr/>
        </p:nvSpPr>
        <p:spPr>
          <a:xfrm>
            <a:off x="1280160" y="2441448"/>
            <a:ext cx="21168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tecTOO_SOON · préfixe CPT</a:t>
            </a:r>
            <a:endParaRPr lang="en-US" sz="900" dirty="0"/>
          </a:p>
        </p:txBody>
      </p:sp>
      <p:sp>
        <p:nvSpPr>
          <p:cNvPr id="10" name="Shape 7"/>
          <p:cNvSpPr/>
          <p:nvPr/>
        </p:nvSpPr>
        <p:spPr>
          <a:xfrm>
            <a:off x="6368796" y="1783080"/>
            <a:ext cx="5015484" cy="9144"/>
          </a:xfrm>
          <a:prstGeom prst="rect">
            <a:avLst/>
          </a:prstGeom>
          <a:solidFill>
            <a:srgbClr val="E2E5E8"/>
          </a:solidFill>
          <a:ln/>
        </p:spPr>
      </p:sp>
      <p:sp>
        <p:nvSpPr>
          <p:cNvPr id="11" name="Shape 8"/>
          <p:cNvSpPr/>
          <p:nvPr/>
        </p:nvSpPr>
        <p:spPr>
          <a:xfrm>
            <a:off x="6368796" y="2020824"/>
            <a:ext cx="310896" cy="310896"/>
          </a:xfrm>
          <a:prstGeom prst="ellipse">
            <a:avLst/>
          </a:prstGeom>
          <a:solidFill>
            <a:srgbClr val="001C5C"/>
          </a:solidFill>
          <a:ln/>
        </p:spPr>
      </p:sp>
      <p:sp>
        <p:nvSpPr>
          <p:cNvPr id="12" name="Text 9"/>
          <p:cNvSpPr txBox="1"/>
          <p:nvPr/>
        </p:nvSpPr>
        <p:spPr>
          <a:xfrm>
            <a:off x="6368796"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4</a:t>
            </a:r>
            <a:endParaRPr lang="en-US" sz="1100" dirty="0"/>
          </a:p>
        </p:txBody>
      </p:sp>
      <p:sp>
        <p:nvSpPr>
          <p:cNvPr id="13" name="Text 10"/>
          <p:cNvSpPr txBox="1"/>
          <p:nvPr/>
        </p:nvSpPr>
        <p:spPr>
          <a:xfrm>
            <a:off x="6844284"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Exception du porteur unique absente d'xrpl.org</a:t>
            </a:r>
            <a:endParaRPr lang="en-US" sz="1400" dirty="0"/>
          </a:p>
        </p:txBody>
      </p:sp>
      <p:sp>
        <p:nvSpPr>
          <p:cNvPr id="14" name="Shape 11"/>
          <p:cNvSpPr/>
          <p:nvPr/>
        </p:nvSpPr>
        <p:spPr>
          <a:xfrm>
            <a:off x="6844284" y="2441448"/>
            <a:ext cx="1362456" cy="292608"/>
          </a:xfrm>
          <a:prstGeom prst="roundRect">
            <a:avLst>
              <a:gd name="adj" fmla="val 50000"/>
            </a:avLst>
          </a:prstGeom>
          <a:solidFill>
            <a:srgbClr val="EBF4FF"/>
          </a:solidFill>
          <a:ln/>
        </p:spPr>
      </p:sp>
      <p:sp>
        <p:nvSpPr>
          <p:cNvPr id="15" name="Text 12"/>
          <p:cNvSpPr txBox="1"/>
          <p:nvPr/>
        </p:nvSpPr>
        <p:spPr>
          <a:xfrm>
            <a:off x="6844284" y="2441448"/>
            <a:ext cx="136245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LossUnrealized</a:t>
            </a:r>
            <a:endParaRPr lang="en-US" sz="900" dirty="0"/>
          </a:p>
        </p:txBody>
      </p:sp>
      <p:sp>
        <p:nvSpPr>
          <p:cNvPr id="16" name="Shape 13"/>
          <p:cNvSpPr/>
          <p:nvPr/>
        </p:nvSpPr>
        <p:spPr>
          <a:xfrm>
            <a:off x="804672" y="2880360"/>
            <a:ext cx="5015484" cy="9144"/>
          </a:xfrm>
          <a:prstGeom prst="rect">
            <a:avLst/>
          </a:prstGeom>
          <a:solidFill>
            <a:srgbClr val="E2E5E8"/>
          </a:solidFill>
          <a:ln/>
        </p:spPr>
      </p:sp>
      <p:sp>
        <p:nvSpPr>
          <p:cNvPr id="17" name="Shape 14"/>
          <p:cNvSpPr/>
          <p:nvPr/>
        </p:nvSpPr>
        <p:spPr>
          <a:xfrm>
            <a:off x="804672" y="3118104"/>
            <a:ext cx="310896" cy="310896"/>
          </a:xfrm>
          <a:prstGeom prst="ellipse">
            <a:avLst/>
          </a:prstGeom>
          <a:solidFill>
            <a:srgbClr val="001C5C"/>
          </a:solidFill>
          <a:ln/>
        </p:spPr>
      </p:sp>
      <p:sp>
        <p:nvSpPr>
          <p:cNvPr id="18" name="Text 15"/>
          <p:cNvSpPr txBox="1"/>
          <p:nvPr/>
        </p:nvSpPr>
        <p:spPr>
          <a:xfrm>
            <a:off x="804672"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5</a:t>
            </a:r>
            <a:endParaRPr lang="en-US" sz="1100" dirty="0"/>
          </a:p>
        </p:txBody>
      </p:sp>
      <p:sp>
        <p:nvSpPr>
          <p:cNvPr id="19" name="Text 16"/>
          <p:cNvSpPr txBox="1"/>
          <p:nvPr/>
        </p:nvSpPr>
        <p:spPr>
          <a:xfrm>
            <a:off x="1280160"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loan_info et loan_broker_info absents</a:t>
            </a:r>
            <a:endParaRPr lang="en-US" sz="1400" dirty="0"/>
          </a:p>
        </p:txBody>
      </p:sp>
      <p:sp>
        <p:nvSpPr>
          <p:cNvPr id="20" name="Shape 17"/>
          <p:cNvSpPr/>
          <p:nvPr/>
        </p:nvSpPr>
        <p:spPr>
          <a:xfrm>
            <a:off x="1280160" y="3538728"/>
            <a:ext cx="1088136" cy="292608"/>
          </a:xfrm>
          <a:prstGeom prst="roundRect">
            <a:avLst>
              <a:gd name="adj" fmla="val 50000"/>
            </a:avLst>
          </a:prstGeom>
          <a:solidFill>
            <a:srgbClr val="EBF4FF"/>
          </a:solidFill>
          <a:ln/>
        </p:spPr>
      </p:sp>
      <p:sp>
        <p:nvSpPr>
          <p:cNvPr id="21" name="Text 18"/>
          <p:cNvSpPr txBox="1"/>
          <p:nvPr/>
        </p:nvSpPr>
        <p:spPr>
          <a:xfrm>
            <a:off x="1280160" y="353872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unknownCmd</a:t>
            </a:r>
            <a:endParaRPr lang="en-US" sz="900" dirty="0"/>
          </a:p>
        </p:txBody>
      </p:sp>
      <p:sp>
        <p:nvSpPr>
          <p:cNvPr id="22" name="Shape 19"/>
          <p:cNvSpPr/>
          <p:nvPr/>
        </p:nvSpPr>
        <p:spPr>
          <a:xfrm>
            <a:off x="6368796" y="2880360"/>
            <a:ext cx="5015484" cy="9144"/>
          </a:xfrm>
          <a:prstGeom prst="rect">
            <a:avLst/>
          </a:prstGeom>
          <a:solidFill>
            <a:srgbClr val="E2E5E8"/>
          </a:solidFill>
          <a:ln/>
        </p:spPr>
      </p:sp>
      <p:sp>
        <p:nvSpPr>
          <p:cNvPr id="23" name="Shape 20"/>
          <p:cNvSpPr/>
          <p:nvPr/>
        </p:nvSpPr>
        <p:spPr>
          <a:xfrm>
            <a:off x="6368796" y="3118104"/>
            <a:ext cx="310896" cy="310896"/>
          </a:xfrm>
          <a:prstGeom prst="ellipse">
            <a:avLst/>
          </a:prstGeom>
          <a:solidFill>
            <a:srgbClr val="001C5C"/>
          </a:solidFill>
          <a:ln/>
        </p:spPr>
      </p:sp>
      <p:sp>
        <p:nvSpPr>
          <p:cNvPr id="24" name="Text 21"/>
          <p:cNvSpPr txBox="1"/>
          <p:nvPr/>
        </p:nvSpPr>
        <p:spPr>
          <a:xfrm>
            <a:off x="6368796"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6</a:t>
            </a:r>
            <a:endParaRPr lang="en-US" sz="1100" dirty="0"/>
          </a:p>
        </p:txBody>
      </p:sp>
      <p:sp>
        <p:nvSpPr>
          <p:cNvPr id="25" name="Text 22"/>
          <p:cNvSpPr txBox="1"/>
          <p:nvPr/>
        </p:nvSpPr>
        <p:spPr>
          <a:xfrm>
            <a:off x="6844284"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Quatre codes, deux à trois causes chacun</a:t>
            </a:r>
            <a:endParaRPr lang="en-US" sz="1400" dirty="0"/>
          </a:p>
        </p:txBody>
      </p:sp>
      <p:sp>
        <p:nvSpPr>
          <p:cNvPr id="26" name="Shape 23"/>
          <p:cNvSpPr/>
          <p:nvPr/>
        </p:nvSpPr>
        <p:spPr>
          <a:xfrm>
            <a:off x="6844284" y="3538728"/>
            <a:ext cx="1842516" cy="292608"/>
          </a:xfrm>
          <a:prstGeom prst="roundRect">
            <a:avLst>
              <a:gd name="adj" fmla="val 50000"/>
            </a:avLst>
          </a:prstGeom>
          <a:solidFill>
            <a:srgbClr val="EBF4FF"/>
          </a:solidFill>
          <a:ln/>
        </p:spPr>
      </p:sp>
      <p:sp>
        <p:nvSpPr>
          <p:cNvPr id="27" name="Text 24"/>
          <p:cNvSpPr txBox="1"/>
          <p:nvPr/>
        </p:nvSpPr>
        <p:spPr>
          <a:xfrm>
            <a:off x="6844284" y="3538728"/>
            <a:ext cx="18425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tecINSUFFICIENT_FUNDS</a:t>
            </a:r>
            <a:endParaRPr lang="en-US" sz="900" dirty="0"/>
          </a:p>
        </p:txBody>
      </p:sp>
      <p:sp>
        <p:nvSpPr>
          <p:cNvPr id="28" name="Shape 25"/>
          <p:cNvSpPr/>
          <p:nvPr/>
        </p:nvSpPr>
        <p:spPr>
          <a:xfrm>
            <a:off x="804672" y="3977640"/>
            <a:ext cx="5015484" cy="9144"/>
          </a:xfrm>
          <a:prstGeom prst="rect">
            <a:avLst/>
          </a:prstGeom>
          <a:solidFill>
            <a:srgbClr val="E2E5E8"/>
          </a:solidFill>
          <a:ln/>
        </p:spPr>
      </p:sp>
      <p:sp>
        <p:nvSpPr>
          <p:cNvPr id="29" name="Shape 26"/>
          <p:cNvSpPr/>
          <p:nvPr/>
        </p:nvSpPr>
        <p:spPr>
          <a:xfrm>
            <a:off x="804672" y="4215384"/>
            <a:ext cx="310896" cy="310896"/>
          </a:xfrm>
          <a:prstGeom prst="ellipse">
            <a:avLst/>
          </a:prstGeom>
          <a:solidFill>
            <a:srgbClr val="001C5C"/>
          </a:solidFill>
          <a:ln/>
        </p:spPr>
      </p:sp>
      <p:sp>
        <p:nvSpPr>
          <p:cNvPr id="30" name="Text 27"/>
          <p:cNvSpPr txBox="1"/>
          <p:nvPr/>
        </p:nvSpPr>
        <p:spPr>
          <a:xfrm>
            <a:off x="804672"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31" name="Text 28"/>
          <p:cNvSpPr txBox="1"/>
          <p:nvPr/>
        </p:nvSpPr>
        <p:spPr>
          <a:xfrm>
            <a:off x="1280160"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Restriction V1.1 de LoanBrokerSet retirée</a:t>
            </a:r>
            <a:endParaRPr lang="en-US" sz="1400" dirty="0"/>
          </a:p>
        </p:txBody>
      </p:sp>
      <p:sp>
        <p:nvSpPr>
          <p:cNvPr id="32" name="Shape 29"/>
          <p:cNvSpPr/>
          <p:nvPr/>
        </p:nvSpPr>
        <p:spPr>
          <a:xfrm>
            <a:off x="1280160" y="4636008"/>
            <a:ext cx="1088136" cy="292608"/>
          </a:xfrm>
          <a:prstGeom prst="roundRect">
            <a:avLst>
              <a:gd name="adj" fmla="val 50000"/>
            </a:avLst>
          </a:prstGeom>
          <a:solidFill>
            <a:srgbClr val="EBF4FF"/>
          </a:solidFill>
          <a:ln/>
        </p:spPr>
      </p:sp>
      <p:sp>
        <p:nvSpPr>
          <p:cNvPr id="33" name="Text 30"/>
          <p:cNvSpPr txBox="1"/>
          <p:nvPr/>
        </p:nvSpPr>
        <p:spPr>
          <a:xfrm>
            <a:off x="1280160" y="463600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tesSUCCESS</a:t>
            </a:r>
            <a:endParaRPr lang="en-US" sz="900" dirty="0"/>
          </a:p>
        </p:txBody>
      </p:sp>
      <p:sp>
        <p:nvSpPr>
          <p:cNvPr id="34" name="Shape 31"/>
          <p:cNvSpPr/>
          <p:nvPr/>
        </p:nvSpPr>
        <p:spPr>
          <a:xfrm>
            <a:off x="6368796" y="3977640"/>
            <a:ext cx="5015484" cy="9144"/>
          </a:xfrm>
          <a:prstGeom prst="rect">
            <a:avLst/>
          </a:prstGeom>
          <a:solidFill>
            <a:srgbClr val="E2E5E8"/>
          </a:solidFill>
          <a:ln/>
        </p:spPr>
      </p:sp>
      <p:sp>
        <p:nvSpPr>
          <p:cNvPr id="35" name="Shape 32"/>
          <p:cNvSpPr/>
          <p:nvPr/>
        </p:nvSpPr>
        <p:spPr>
          <a:xfrm>
            <a:off x="6368796" y="4215384"/>
            <a:ext cx="310896" cy="310896"/>
          </a:xfrm>
          <a:prstGeom prst="ellipse">
            <a:avLst/>
          </a:prstGeom>
          <a:solidFill>
            <a:srgbClr val="001C5C"/>
          </a:solidFill>
          <a:ln/>
        </p:spPr>
      </p:sp>
      <p:sp>
        <p:nvSpPr>
          <p:cNvPr id="36" name="Text 33"/>
          <p:cNvSpPr txBox="1"/>
          <p:nvPr/>
        </p:nvSpPr>
        <p:spPr>
          <a:xfrm>
            <a:off x="6368796"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8</a:t>
            </a:r>
            <a:endParaRPr lang="en-US" sz="1100" dirty="0"/>
          </a:p>
        </p:txBody>
      </p:sp>
      <p:sp>
        <p:nvSpPr>
          <p:cNvPr id="37" name="Text 34"/>
          <p:cNvSpPr txBox="1"/>
          <p:nvPr/>
        </p:nvSpPr>
        <p:spPr>
          <a:xfrm>
            <a:off x="6844284"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Devnet sur les ports 51233 et 51234 seulement</a:t>
            </a:r>
            <a:endParaRPr lang="en-US" sz="1400" dirty="0"/>
          </a:p>
        </p:txBody>
      </p:sp>
      <p:sp>
        <p:nvSpPr>
          <p:cNvPr id="38" name="Shape 35"/>
          <p:cNvSpPr/>
          <p:nvPr/>
        </p:nvSpPr>
        <p:spPr>
          <a:xfrm>
            <a:off x="6844284" y="4636008"/>
            <a:ext cx="813816" cy="292608"/>
          </a:xfrm>
          <a:prstGeom prst="roundRect">
            <a:avLst>
              <a:gd name="adj" fmla="val 50000"/>
            </a:avLst>
          </a:prstGeom>
          <a:solidFill>
            <a:srgbClr val="EBF4FF"/>
          </a:solidFill>
          <a:ln/>
        </p:spPr>
      </p:sp>
      <p:sp>
        <p:nvSpPr>
          <p:cNvPr id="39" name="Text 36"/>
          <p:cNvSpPr txBox="1"/>
          <p:nvPr/>
        </p:nvSpPr>
        <p:spPr>
          <a:xfrm>
            <a:off x="6844284" y="4636008"/>
            <a:ext cx="8138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réseau</a:t>
            </a:r>
            <a:endParaRPr lang="en-US" sz="900" dirty="0"/>
          </a:p>
        </p:txBody>
      </p:sp>
      <p:sp>
        <p:nvSpPr>
          <p:cNvPr id="40" name="Shape 37"/>
          <p:cNvSpPr/>
          <p:nvPr/>
        </p:nvSpPr>
        <p:spPr>
          <a:xfrm>
            <a:off x="804672" y="5074920"/>
            <a:ext cx="5015484" cy="9144"/>
          </a:xfrm>
          <a:prstGeom prst="rect">
            <a:avLst/>
          </a:prstGeom>
          <a:solidFill>
            <a:srgbClr val="E2E5E8"/>
          </a:solidFill>
          <a:ln/>
        </p:spPr>
      </p:sp>
      <p:sp>
        <p:nvSpPr>
          <p:cNvPr id="41" name="Shape 38"/>
          <p:cNvSpPr/>
          <p:nvPr/>
        </p:nvSpPr>
        <p:spPr>
          <a:xfrm>
            <a:off x="804672" y="5312664"/>
            <a:ext cx="310896" cy="310896"/>
          </a:xfrm>
          <a:prstGeom prst="ellipse">
            <a:avLst/>
          </a:prstGeom>
          <a:solidFill>
            <a:srgbClr val="001C5C"/>
          </a:solidFill>
          <a:ln/>
        </p:spPr>
      </p:sp>
      <p:sp>
        <p:nvSpPr>
          <p:cNvPr id="42" name="Text 39"/>
          <p:cNvSpPr txBox="1"/>
          <p:nvPr/>
        </p:nvSpPr>
        <p:spPr>
          <a:xfrm>
            <a:off x="804672" y="531266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9</a:t>
            </a:r>
            <a:endParaRPr lang="en-US" sz="1100" dirty="0"/>
          </a:p>
        </p:txBody>
      </p:sp>
      <p:sp>
        <p:nvSpPr>
          <p:cNvPr id="43" name="Text 40"/>
          <p:cNvSpPr txBox="1"/>
          <p:nvPr/>
        </p:nvSpPr>
        <p:spPr>
          <a:xfrm>
            <a:off x="1280160" y="531266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Aucun flag ne ferme un vault aux dépôts</a:t>
            </a:r>
            <a:endParaRPr lang="en-US" sz="1400" dirty="0"/>
          </a:p>
        </p:txBody>
      </p:sp>
      <p:sp>
        <p:nvSpPr>
          <p:cNvPr id="44" name="Shape 41"/>
          <p:cNvSpPr/>
          <p:nvPr/>
        </p:nvSpPr>
        <p:spPr>
          <a:xfrm>
            <a:off x="1280160" y="5733288"/>
            <a:ext cx="1568196" cy="292608"/>
          </a:xfrm>
          <a:prstGeom prst="roundRect">
            <a:avLst>
              <a:gd name="adj" fmla="val 50000"/>
            </a:avLst>
          </a:prstGeom>
          <a:solidFill>
            <a:srgbClr val="EBF4FF"/>
          </a:solidFill>
          <a:ln/>
        </p:spPr>
      </p:sp>
      <p:sp>
        <p:nvSpPr>
          <p:cNvPr id="45" name="Text 42"/>
          <p:cNvSpPr txBox="1"/>
          <p:nvPr/>
        </p:nvSpPr>
        <p:spPr>
          <a:xfrm>
            <a:off x="1280160" y="5733288"/>
            <a:ext cx="156819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tecLIMIT_EXCEEDED</a:t>
            </a:r>
            <a:endParaRPr lang="en-US" sz="900" dirty="0"/>
          </a:p>
        </p:txBody>
      </p:sp>
      <p:sp>
        <p:nvSpPr>
          <p:cNvPr id="46" name="Shape 43"/>
          <p:cNvSpPr/>
          <p:nvPr/>
        </p:nvSpPr>
        <p:spPr>
          <a:xfrm>
            <a:off x="6368796" y="5074920"/>
            <a:ext cx="5015484" cy="9144"/>
          </a:xfrm>
          <a:prstGeom prst="rect">
            <a:avLst/>
          </a:prstGeom>
          <a:solidFill>
            <a:srgbClr val="E2E5E8"/>
          </a:solidFill>
          <a:ln/>
        </p:spPr>
      </p:sp>
      <p:sp>
        <p:nvSpPr>
          <p:cNvPr id="47" name="Shape 44"/>
          <p:cNvSpPr/>
          <p:nvPr/>
        </p:nvSpPr>
        <p:spPr>
          <a:xfrm>
            <a:off x="6368796" y="5312664"/>
            <a:ext cx="310896" cy="310896"/>
          </a:xfrm>
          <a:prstGeom prst="ellipse">
            <a:avLst/>
          </a:prstGeom>
          <a:solidFill>
            <a:srgbClr val="001C5C"/>
          </a:solidFill>
          <a:ln/>
        </p:spPr>
      </p:sp>
      <p:sp>
        <p:nvSpPr>
          <p:cNvPr id="48" name="Text 45"/>
          <p:cNvSpPr txBox="1"/>
          <p:nvPr/>
        </p:nvSpPr>
        <p:spPr>
          <a:xfrm>
            <a:off x="6368796" y="5312664"/>
            <a:ext cx="310896"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Poppins" pitchFamily="34" charset="0"/>
                <a:ea typeface="Poppins" pitchFamily="34" charset="-122"/>
                <a:cs typeface="Poppins" pitchFamily="34" charset="-120"/>
              </a:rPr>
              <a:t>10</a:t>
            </a:r>
            <a:endParaRPr lang="en-US" sz="950" dirty="0"/>
          </a:p>
        </p:txBody>
      </p:sp>
      <p:sp>
        <p:nvSpPr>
          <p:cNvPr id="49" name="Text 46"/>
          <p:cNvSpPr txBox="1"/>
          <p:nvPr/>
        </p:nvSpPr>
        <p:spPr>
          <a:xfrm>
            <a:off x="6844284" y="531266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Parts de vault lsfMPTCanTrade, OfferCreate refusé</a:t>
            </a:r>
            <a:endParaRPr lang="en-US" sz="1400" dirty="0"/>
          </a:p>
        </p:txBody>
      </p:sp>
      <p:sp>
        <p:nvSpPr>
          <p:cNvPr id="50" name="Shape 47"/>
          <p:cNvSpPr/>
          <p:nvPr/>
        </p:nvSpPr>
        <p:spPr>
          <a:xfrm>
            <a:off x="6844284" y="5733288"/>
            <a:ext cx="1156716" cy="292608"/>
          </a:xfrm>
          <a:prstGeom prst="roundRect">
            <a:avLst>
              <a:gd name="adj" fmla="val 50000"/>
            </a:avLst>
          </a:prstGeom>
          <a:solidFill>
            <a:srgbClr val="EBF4FF"/>
          </a:solidFill>
          <a:ln/>
        </p:spPr>
      </p:sp>
      <p:sp>
        <p:nvSpPr>
          <p:cNvPr id="51" name="Text 48"/>
          <p:cNvSpPr txBox="1"/>
          <p:nvPr/>
        </p:nvSpPr>
        <p:spPr>
          <a:xfrm>
            <a:off x="6844284" y="5733288"/>
            <a:ext cx="11567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temDISABLED</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FFFFFF"/>
                </a:solidFill>
                <a:latin typeface="Poppins" pitchFamily="34" charset="0"/>
                <a:ea typeface="Poppins" pitchFamily="34" charset="-122"/>
                <a:cs typeface="Poppins" pitchFamily="34" charset="-120"/>
              </a:rPr>
              <a:t>Dix constats, trois pages</a:t>
            </a:r>
            <a:endParaRPr lang="en-US" sz="3200" dirty="0"/>
          </a:p>
        </p:txBody>
      </p:sp>
      <p:sp>
        <p:nvSpPr>
          <p:cNvPr id="4" name="Text 1"/>
          <p:cNvSpPr txBox="1"/>
          <p:nvPr/>
        </p:nvSpPr>
        <p:spPr>
          <a:xfrm>
            <a:off x="768096" y="1965960"/>
            <a:ext cx="7315200" cy="1143000"/>
          </a:xfrm>
          <a:prstGeom prst="rect">
            <a:avLst/>
          </a:prstGeom>
          <a:noFill/>
          <a:ln/>
        </p:spPr>
        <p:txBody>
          <a:bodyPr wrap="square" lIns="0" tIns="0" rIns="0" bIns="0" rtlCol="0" anchor="t"/>
          <a:lstStyle/>
          <a:p>
            <a:pPr algn="l" indent="0" marL="0">
              <a:buNone/>
            </a:pPr>
            <a:r>
              <a:rPr lang="en-US" sz="7600" b="1" dirty="0">
                <a:solidFill>
                  <a:srgbClr val="6DC3FF"/>
                </a:solidFill>
                <a:latin typeface="Poppins" pitchFamily="34" charset="0"/>
                <a:ea typeface="Poppins" pitchFamily="34" charset="-122"/>
                <a:cs typeface="Poppins" pitchFamily="34" charset="-120"/>
              </a:rPr>
              <a:t>143 / 143</a:t>
            </a:r>
            <a:endParaRPr lang="en-US" sz="7600" dirty="0"/>
          </a:p>
        </p:txBody>
      </p:sp>
      <p:sp>
        <p:nvSpPr>
          <p:cNvPr id="5" name="Text 2"/>
          <p:cNvSpPr txBox="1"/>
          <p:nvPr/>
        </p:nvSpPr>
        <p:spPr>
          <a:xfrm>
            <a:off x="804672" y="3200400"/>
            <a:ext cx="10579608" cy="365760"/>
          </a:xfrm>
          <a:prstGeom prst="rect">
            <a:avLst/>
          </a:prstGeom>
          <a:noFill/>
          <a:ln/>
        </p:spPr>
        <p:txBody>
          <a:bodyPr wrap="square" lIns="0" tIns="0" rIns="0" bIns="0" rtlCol="0" anchor="t"/>
          <a:lstStyle/>
          <a:p>
            <a:pPr algn="l" indent="0" marL="0">
              <a:buNone/>
            </a:pPr>
            <a:r>
              <a:rPr lang="en-US" sz="1900" dirty="0">
                <a:solidFill>
                  <a:srgbClr val="C9D4E8"/>
                </a:solidFill>
                <a:latin typeface="Poppins Light" pitchFamily="34" charset="0"/>
                <a:ea typeface="Poppins Light" pitchFamily="34" charset="-122"/>
                <a:cs typeface="Poppins Light" pitchFamily="34" charset="-120"/>
              </a:rPr>
              <a:t>hashes cités, relus sur le ledger avant soumission</a:t>
            </a:r>
            <a:endParaRPr lang="en-US" sz="1900" dirty="0"/>
          </a:p>
        </p:txBody>
      </p:sp>
      <p:sp>
        <p:nvSpPr>
          <p:cNvPr id="6" name="Shape 3"/>
          <p:cNvSpPr/>
          <p:nvPr/>
        </p:nvSpPr>
        <p:spPr>
          <a:xfrm>
            <a:off x="804672" y="4206240"/>
            <a:ext cx="10579608" cy="9144"/>
          </a:xfrm>
          <a:prstGeom prst="rect">
            <a:avLst/>
          </a:prstGeom>
          <a:solidFill>
            <a:srgbClr val="1C3D85"/>
          </a:solidFill>
          <a:ln/>
        </p:spPr>
      </p:sp>
      <p:sp>
        <p:nvSpPr>
          <p:cNvPr id="7" name="Text 4"/>
          <p:cNvSpPr txBox="1"/>
          <p:nvPr/>
        </p:nvSpPr>
        <p:spPr>
          <a:xfrm>
            <a:off x="804672" y="4480560"/>
            <a:ext cx="10579608" cy="411480"/>
          </a:xfrm>
          <a:prstGeom prst="rect">
            <a:avLst/>
          </a:prstGeom>
          <a:noFill/>
          <a:ln/>
        </p:spPr>
        <p:txBody>
          <a:bodyPr wrap="square" lIns="0" tIns="0" rIns="0" bIns="0" rtlCol="0" anchor="t"/>
          <a:lstStyle/>
          <a:p>
            <a:pPr algn="l" indent="0" marL="0">
              <a:buNone/>
            </a:pPr>
            <a:r>
              <a:rPr lang="en-US" sz="2100" dirty="0">
                <a:solidFill>
                  <a:srgbClr val="FFFFFF"/>
                </a:solidFill>
                <a:latin typeface="Menlo" pitchFamily="34" charset="0"/>
                <a:ea typeface="Menlo" pitchFamily="34" charset="-122"/>
                <a:cs typeface="Menlo" pitchFamily="34" charset="-120"/>
              </a:rPr>
              <a:t>github.com/charlyppr/xrpl-lending</a:t>
            </a:r>
            <a:endParaRPr lang="en-US" sz="2100" dirty="0"/>
          </a:p>
        </p:txBody>
      </p:sp>
      <p:sp>
        <p:nvSpPr>
          <p:cNvPr id="8" name="Shape 5"/>
          <p:cNvSpPr/>
          <p:nvPr/>
        </p:nvSpPr>
        <p:spPr>
          <a:xfrm>
            <a:off x="804672" y="5120640"/>
            <a:ext cx="1198626" cy="292608"/>
          </a:xfrm>
          <a:prstGeom prst="roundRect">
            <a:avLst>
              <a:gd name="adj" fmla="val 50000"/>
            </a:avLst>
          </a:prstGeom>
          <a:solidFill>
            <a:srgbClr val="12357E"/>
          </a:solidFill>
          <a:ln/>
        </p:spPr>
      </p:sp>
      <p:sp>
        <p:nvSpPr>
          <p:cNvPr id="9" name="Text 6"/>
          <p:cNvSpPr txBox="1"/>
          <p:nvPr/>
        </p:nvSpPr>
        <p:spPr>
          <a:xfrm>
            <a:off x="804672" y="512064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FEEDBACK.md</a:t>
            </a:r>
            <a:endParaRPr lang="en-US" sz="950" dirty="0"/>
          </a:p>
        </p:txBody>
      </p:sp>
      <p:sp>
        <p:nvSpPr>
          <p:cNvPr id="10" name="Shape 7"/>
          <p:cNvSpPr/>
          <p:nvPr/>
        </p:nvSpPr>
        <p:spPr>
          <a:xfrm>
            <a:off x="2131314" y="5120640"/>
            <a:ext cx="2139696" cy="292608"/>
          </a:xfrm>
          <a:prstGeom prst="roundRect">
            <a:avLst>
              <a:gd name="adj" fmla="val 50000"/>
            </a:avLst>
          </a:prstGeom>
          <a:solidFill>
            <a:srgbClr val="12357E"/>
          </a:solidFill>
          <a:ln/>
        </p:spPr>
      </p:sp>
      <p:sp>
        <p:nvSpPr>
          <p:cNvPr id="11" name="Text 8"/>
          <p:cNvSpPr txBox="1"/>
          <p:nvPr/>
        </p:nvSpPr>
        <p:spPr>
          <a:xfrm>
            <a:off x="2131314" y="5120640"/>
            <a:ext cx="213969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deck/feedback-report.pdf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CY-HACK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Exit Lane</dc:title>
  <dc:subject>XRPL Lending Protocol Hackathon · Track 1</dc:subject>
  <dc:creator>CY-HACK</dc:creator>
  <cp:lastModifiedBy>CY-HACK</cp:lastModifiedBy>
  <cp:revision>1</cp:revision>
  <dcterms:created xsi:type="dcterms:W3CDTF">2026-09-12T21:45:06Z</dcterms:created>
  <dcterms:modified xsi:type="dcterms:W3CDTF">2026-09-12T21:45:06Z</dcterms:modified>
</cp:coreProperties>
</file>