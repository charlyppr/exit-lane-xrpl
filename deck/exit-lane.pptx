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(15 s)
CY-HACK, track 1. An open-ended vault promises withdrawal at any time. It can no longer keep that promise once it works well. Here is why, what we built, and what the protocol taught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0:40 (25 s)
A corporate treasurer deposits 25 XRP. A broker lends to small businesses, over four months. A single LoanSet takes 100% of the vault, with no warning. She wants to withdraw: tecINSUFFICIENT_FUNDS, here in the explorer. We hit it while writing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1:00 (20 s)
No XLS-66 transaction transfers a loan. But the vault share is an MPT, so it can be transferred. She sells it over the counter, at 97% of its value, with two escrows under the same SHA-256 condition: to take the shares, the buyer publishes the secret that pays the seller.
Q&amp;A: the seller's escrow expires before the buyer's so she has time to collect. Limit: the buyer holds a free one-hour option (README, Limits). BatchV1_1 is enabled, another atomic path,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2:00 (60 s)
Switch to the terminal, command already typed: node scripts/demo.mjs --auto (56 s measured). One sentence per scene:
1. Vault, deposit, broker, cover, and a loan that takes everything.
2. She wants out: refused.
3. The buyer opts in, two escrows, he reveals the secret, she reads it back from the ledger and collects.
4. The borrower repays. The buyer, who never deposited, is the one who withdraws, with the yield.
If nothing moves for 15 s: Ctrl+C, come back to this slide. The terminal on the right is the reference run, hashes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2:10 (10 s)
The eight minimum bar steps in a single run, every hash in the README. The fifteen XLS-65 and XLS-66 types submitted to the ledger, all typed in xrpl 4.6.0. Now, the three most important frictions, each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 2:40 (30 s)
One: fixCleanup3_4_0 is enabled on the devnet and missing from xrpl.org. It changes two things. Impairment: the tutorial says to impair before the due date, the ledger answers tecTOO_SOON until the due date, on the left. The borrower's signature on LoanSet: a new prefix, which the xrpl 4.6.0 helper does not use, on the right.
Fix: list the amendment on xrpl.org, update the tutorial, sign with encodeForSigningCounterparty in xrpl.js.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 3:05 (25 s)
Two: a loan 11 seconds late, within its grace period. Without the flag: tecEXPIRED, on the left. Same amount with tfLoanLatePayment: success, on the right, and the explorer shows that flag in hex. The failure is defined in XLS-66, but not in the xrpl.org LoanPay reference.
Fix: add tecEXPIRED to the reference with the flag as the remedy, and name the flag in the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3:35 (30 s)
Three: a broker with 10% minimum cover, 5% liquidation. Default on a 4 XRP loan. The explorer shows 0.02 XRP taken from the cover: 4 × 10% × 5%, to the drop. The depositor loses 3.98 XRP. That is the documented formula. Below: 21 seconds after the default, by ledger close time, the broker withdraws the remaining 0.98 XRP, because the debt, and so the floor, are at zero.
Fix: show the share of a default the cover absorbs, and a withdrawal delay after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 → 3:50 (15 s)
Six more findings, each with its category, severity, repro steps and fix in the report. Only mention number 7: the hackathon branch reverted the V1.1 restriction on LoanBrokerSet, and the brief does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4:00 (10 s)
Everything is in FEEDBACK.md, and in three pages in FEEDBACK.pdf. The 143 hashes cited were re-checked on the ledger before submission.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Shape 0"/>
          <p:cNvSpPr/>
          <p:nvPr/>
        </p:nvSpPr>
        <p:spPr>
          <a:xfrm>
            <a:off x="804672" y="2057400"/>
            <a:ext cx="836676" cy="292608"/>
          </a:xfrm>
          <a:prstGeom prst="roundRect">
            <a:avLst>
              <a:gd name="adj" fmla="val 50000"/>
            </a:avLst>
          </a:prstGeom>
          <a:solidFill>
            <a:srgbClr val="12357E"/>
          </a:solidFill>
          <a:ln/>
        </p:spPr>
      </p:sp>
      <p:sp>
        <p:nvSpPr>
          <p:cNvPr id="4" name="Text 1"/>
          <p:cNvSpPr txBox="1"/>
          <p:nvPr/>
        </p:nvSpPr>
        <p:spPr>
          <a:xfrm>
            <a:off x="804672"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XLS-65</a:t>
            </a:r>
            <a:endParaRPr lang="en-US" sz="950" dirty="0"/>
          </a:p>
        </p:txBody>
      </p:sp>
      <p:sp>
        <p:nvSpPr>
          <p:cNvPr id="5" name="Shape 2"/>
          <p:cNvSpPr/>
          <p:nvPr/>
        </p:nvSpPr>
        <p:spPr>
          <a:xfrm>
            <a:off x="1769364" y="2057400"/>
            <a:ext cx="836676" cy="292608"/>
          </a:xfrm>
          <a:prstGeom prst="roundRect">
            <a:avLst>
              <a:gd name="adj" fmla="val 50000"/>
            </a:avLst>
          </a:prstGeom>
          <a:solidFill>
            <a:srgbClr val="12357E"/>
          </a:solidFill>
          <a:ln/>
        </p:spPr>
      </p:sp>
      <p:sp>
        <p:nvSpPr>
          <p:cNvPr id="6" name="Text 3"/>
          <p:cNvSpPr txBox="1"/>
          <p:nvPr/>
        </p:nvSpPr>
        <p:spPr>
          <a:xfrm>
            <a:off x="1769364"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XLS-66</a:t>
            </a:r>
            <a:endParaRPr lang="en-US" sz="950" dirty="0"/>
          </a:p>
        </p:txBody>
      </p:sp>
      <p:sp>
        <p:nvSpPr>
          <p:cNvPr id="7" name="Shape 4"/>
          <p:cNvSpPr/>
          <p:nvPr/>
        </p:nvSpPr>
        <p:spPr>
          <a:xfrm>
            <a:off x="2734056" y="2057400"/>
            <a:ext cx="1198626" cy="292608"/>
          </a:xfrm>
          <a:prstGeom prst="roundRect">
            <a:avLst>
              <a:gd name="adj" fmla="val 50000"/>
            </a:avLst>
          </a:prstGeom>
          <a:solidFill>
            <a:srgbClr val="12357E"/>
          </a:solidFill>
          <a:ln/>
        </p:spPr>
      </p:sp>
      <p:sp>
        <p:nvSpPr>
          <p:cNvPr id="8" name="Text 5"/>
          <p:cNvSpPr txBox="1"/>
          <p:nvPr/>
        </p:nvSpPr>
        <p:spPr>
          <a:xfrm>
            <a:off x="2734056" y="205740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TokenEscrow</a:t>
            </a:r>
            <a:endParaRPr lang="en-US" sz="950" dirty="0"/>
          </a:p>
        </p:txBody>
      </p:sp>
      <p:sp>
        <p:nvSpPr>
          <p:cNvPr id="9" name="Text 6"/>
          <p:cNvSpPr txBox="1"/>
          <p:nvPr/>
        </p:nvSpPr>
        <p:spPr>
          <a:xfrm>
            <a:off x="758952" y="2514600"/>
            <a:ext cx="8229600" cy="1097280"/>
          </a:xfrm>
          <a:prstGeom prst="rect">
            <a:avLst/>
          </a:prstGeom>
          <a:noFill/>
          <a:ln/>
        </p:spPr>
        <p:txBody>
          <a:bodyPr wrap="square" lIns="0" tIns="0" rIns="0" bIns="0" rtlCol="0" anchor="t"/>
          <a:lstStyle/>
          <a:p>
            <a:pPr algn="l" indent="0" marL="0">
              <a:buNone/>
            </a:pPr>
            <a:r>
              <a:rPr lang="en-US" sz="6400" b="1" dirty="0">
                <a:solidFill>
                  <a:srgbClr val="FFFFFF"/>
                </a:solidFill>
                <a:latin typeface="Poppins" pitchFamily="34" charset="0"/>
                <a:ea typeface="Poppins" pitchFamily="34" charset="-122"/>
                <a:cs typeface="Poppins" pitchFamily="34" charset="-120"/>
              </a:rPr>
              <a:t>Exit Lane.</a:t>
            </a:r>
            <a:endParaRPr lang="en-US" sz="6400" dirty="0"/>
          </a:p>
        </p:txBody>
      </p:sp>
      <p:sp>
        <p:nvSpPr>
          <p:cNvPr id="10" name="Text 7"/>
          <p:cNvSpPr txBox="1"/>
          <p:nvPr/>
        </p:nvSpPr>
        <p:spPr>
          <a:xfrm>
            <a:off x="804672" y="3749040"/>
            <a:ext cx="8686800" cy="822960"/>
          </a:xfrm>
          <a:prstGeom prst="rect">
            <a:avLst/>
          </a:prstGeom>
          <a:noFill/>
          <a:ln/>
        </p:spPr>
        <p:txBody>
          <a:bodyPr wrap="square" lIns="0" tIns="0" rIns="0" bIns="0" rtlCol="0" anchor="t"/>
          <a:lstStyle/>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An open-ended vault promises withdrawal at any time.</a:t>
            </a:r>
            <a:endParaRPr lang="en-US" sz="1900" dirty="0"/>
          </a:p>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It can no longer keep that promise once it works well.</a:t>
            </a:r>
            <a:endParaRPr lang="en-US" sz="1900" dirty="0"/>
          </a:p>
        </p:txBody>
      </p:sp>
      <p:sp>
        <p:nvSpPr>
          <p:cNvPr id="11" name="Text 8"/>
          <p:cNvSpPr txBox="1"/>
          <p:nvPr/>
        </p:nvSpPr>
        <p:spPr>
          <a:xfrm>
            <a:off x="804672" y="5897880"/>
            <a:ext cx="10579608" cy="274320"/>
          </a:xfrm>
          <a:prstGeom prst="rect">
            <a:avLst/>
          </a:prstGeom>
          <a:noFill/>
          <a:ln/>
        </p:spPr>
        <p:txBody>
          <a:bodyPr wrap="square" lIns="0" tIns="0" rIns="0" bIns="0" rtlCol="0" anchor="t"/>
          <a:lstStyle/>
          <a:p>
            <a:pPr algn="l" indent="0" marL="0">
              <a:buNone/>
            </a:pPr>
            <a:r>
              <a:rPr lang="en-US" sz="1100" dirty="0">
                <a:solidFill>
                  <a:srgbClr val="6DC3FF"/>
                </a:solidFill>
                <a:latin typeface="Poppins" pitchFamily="34" charset="0"/>
                <a:ea typeface="Poppins" pitchFamily="34" charset="-122"/>
                <a:cs typeface="Poppins" pitchFamily="34" charset="-120"/>
              </a:rPr>
              <a:t>CY-HACK   ·   Track 1, open-ended vault   ·   Custom Hackathon Devnet   ·   xrpl@4.6.0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2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Open on paper, closed in practice</a:t>
            </a:r>
            <a:endParaRPr lang="en-US" sz="3200" dirty="0"/>
          </a:p>
        </p:txBody>
      </p:sp>
      <p:sp>
        <p:nvSpPr>
          <p:cNvPr id="5" name="Text 2"/>
          <p:cNvSpPr txBox="1"/>
          <p:nvPr/>
        </p:nvSpPr>
        <p:spPr>
          <a:xfrm>
            <a:off x="804672" y="1828800"/>
            <a:ext cx="4389120" cy="633046"/>
          </a:xfrm>
          <a:prstGeom prst="rect">
            <a:avLst/>
          </a:prstGeom>
          <a:noFill/>
          <a:ln/>
        </p:spPr>
        <p:txBody>
          <a:bodyPr wrap="square" lIns="0" tIns="0" rIns="0" bIns="0" rtlCol="0" anchor="t"/>
          <a:lstStyle/>
          <a:p>
            <a:pPr algn="l" indent="0" marL="0">
              <a:buNone/>
            </a:pPr>
            <a:r>
              <a:rPr lang="en-US" sz="3600" b="1" dirty="0">
                <a:solidFill>
                  <a:srgbClr val="006AFF"/>
                </a:solidFill>
                <a:latin typeface="Poppins" pitchFamily="34" charset="0"/>
                <a:ea typeface="Poppins" pitchFamily="34" charset="-122"/>
                <a:cs typeface="Poppins" pitchFamily="34" charset="-120"/>
              </a:rPr>
              <a:t>100%</a:t>
            </a:r>
            <a:endParaRPr lang="en-US" sz="3600" dirty="0"/>
          </a:p>
        </p:txBody>
      </p:sp>
      <p:sp>
        <p:nvSpPr>
          <p:cNvPr id="6" name="Text 3"/>
          <p:cNvSpPr txBox="1"/>
          <p:nvPr/>
        </p:nvSpPr>
        <p:spPr>
          <a:xfrm>
            <a:off x="804672" y="248013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the vault lent by a single LoanSet</a:t>
            </a:r>
            <a:endParaRPr lang="en-US" sz="1300" dirty="0"/>
          </a:p>
        </p:txBody>
      </p:sp>
      <p:sp>
        <p:nvSpPr>
          <p:cNvPr id="7" name="Text 4"/>
          <p:cNvSpPr txBox="1"/>
          <p:nvPr/>
        </p:nvSpPr>
        <p:spPr>
          <a:xfrm>
            <a:off x="804672" y="3108960"/>
            <a:ext cx="438912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 XRP</a:t>
            </a:r>
            <a:endParaRPr lang="en-US" sz="3600" dirty="0"/>
          </a:p>
        </p:txBody>
      </p:sp>
      <p:sp>
        <p:nvSpPr>
          <p:cNvPr id="8" name="Text 5"/>
          <p:cNvSpPr txBox="1"/>
          <p:nvPr/>
        </p:nvSpPr>
        <p:spPr>
          <a:xfrm>
            <a:off x="804672" y="376029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withdrawable by the depositor</a:t>
            </a:r>
            <a:endParaRPr lang="en-US" sz="1300" dirty="0"/>
          </a:p>
        </p:txBody>
      </p:sp>
      <p:sp>
        <p:nvSpPr>
          <p:cNvPr id="9" name="Text 6"/>
          <p:cNvSpPr txBox="1"/>
          <p:nvPr/>
        </p:nvSpPr>
        <p:spPr>
          <a:xfrm>
            <a:off x="804672" y="4389120"/>
            <a:ext cx="438912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4 months</a:t>
            </a:r>
            <a:endParaRPr lang="en-US" sz="3600" dirty="0"/>
          </a:p>
        </p:txBody>
      </p:sp>
      <p:sp>
        <p:nvSpPr>
          <p:cNvPr id="10" name="Text 7"/>
          <p:cNvSpPr txBox="1"/>
          <p:nvPr/>
        </p:nvSpPr>
        <p:spPr>
          <a:xfrm>
            <a:off x="804672" y="504045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until the last payment is due</a:t>
            </a:r>
            <a:endParaRPr lang="en-US" sz="1300" dirty="0"/>
          </a:p>
        </p:txBody>
      </p:sp>
      <p:sp>
        <p:nvSpPr>
          <p:cNvPr id="11" name="Shape 8"/>
          <p:cNvSpPr/>
          <p:nvPr/>
        </p:nvSpPr>
        <p:spPr>
          <a:xfrm>
            <a:off x="5532120" y="2286000"/>
            <a:ext cx="5852160" cy="2691517"/>
          </a:xfrm>
          <a:prstGeom prst="roundRect">
            <a:avLst>
              <a:gd name="adj" fmla="val 4756"/>
            </a:avLst>
          </a:prstGeom>
          <a:solidFill>
            <a:srgbClr val="000000"/>
          </a:solidFill>
          <a:ln w="9525">
            <a:solidFill>
              <a:srgbClr val="343437"/>
            </a:solidFill>
            <a:prstDash val="solid"/>
          </a:ln>
        </p:spPr>
      </p:sp>
      <p:sp>
        <p:nvSpPr>
          <p:cNvPr id="12" name="Shape 9"/>
          <p:cNvSpPr/>
          <p:nvPr/>
        </p:nvSpPr>
        <p:spPr>
          <a:xfrm>
            <a:off x="5751576" y="2427732"/>
            <a:ext cx="100584" cy="100584"/>
          </a:xfrm>
          <a:prstGeom prst="ellipse">
            <a:avLst/>
          </a:prstGeom>
          <a:solidFill>
            <a:srgbClr val="FF5F57"/>
          </a:solidFill>
          <a:ln/>
        </p:spPr>
      </p:sp>
      <p:sp>
        <p:nvSpPr>
          <p:cNvPr id="13" name="Shape 10"/>
          <p:cNvSpPr/>
          <p:nvPr/>
        </p:nvSpPr>
        <p:spPr>
          <a:xfrm>
            <a:off x="5934456" y="2427732"/>
            <a:ext cx="100584" cy="100584"/>
          </a:xfrm>
          <a:prstGeom prst="ellipse">
            <a:avLst/>
          </a:prstGeom>
          <a:solidFill>
            <a:srgbClr val="FEBC2E"/>
          </a:solidFill>
          <a:ln/>
        </p:spPr>
      </p:sp>
      <p:sp>
        <p:nvSpPr>
          <p:cNvPr id="14" name="Shape 11"/>
          <p:cNvSpPr/>
          <p:nvPr/>
        </p:nvSpPr>
        <p:spPr>
          <a:xfrm>
            <a:off x="6117336" y="2427732"/>
            <a:ext cx="100584" cy="100584"/>
          </a:xfrm>
          <a:prstGeom prst="ellipse">
            <a:avLst/>
          </a:prstGeom>
          <a:solidFill>
            <a:srgbClr val="28C840"/>
          </a:solidFill>
          <a:ln/>
        </p:spPr>
      </p:sp>
      <p:sp>
        <p:nvSpPr>
          <p:cNvPr id="15" name="Text 12"/>
          <p:cNvSpPr txBox="1"/>
          <p:nvPr/>
        </p:nvSpPr>
        <p:spPr>
          <a:xfrm>
            <a:off x="6428232" y="2286000"/>
            <a:ext cx="475488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explorer  ›  VaultWithdraw  ›  7AB5622E…CF934</a:t>
            </a:r>
            <a:endParaRPr lang="en-US" sz="900" dirty="0"/>
          </a:p>
        </p:txBody>
      </p:sp>
      <p:sp>
        <p:nvSpPr>
          <p:cNvPr id="16" name="Shape 13"/>
          <p:cNvSpPr/>
          <p:nvPr/>
        </p:nvSpPr>
        <p:spPr>
          <a:xfrm>
            <a:off x="5532120" y="2670048"/>
            <a:ext cx="5852160" cy="9144"/>
          </a:xfrm>
          <a:prstGeom prst="rect">
            <a:avLst/>
          </a:prstGeom>
          <a:solidFill>
            <a:srgbClr val="343437"/>
          </a:solidFill>
          <a:ln/>
        </p:spPr>
      </p:sp>
      <p:pic>
        <p:nvPicPr>
          <p:cNvPr id="17" name="Image 1" descr="/Users/charlypupier/Documents/Hackathon XRPL/xrpl-lending/bonus/deck-source/shots/d-wall-type.png">    </p:cNvPr>
          <p:cNvPicPr>
            <a:picLocks noChangeAspect="1"/>
          </p:cNvPicPr>
          <p:nvPr/>
        </p:nvPicPr>
        <p:blipFill>
          <a:blip r:embed="rId2"/>
          <a:stretch>
            <a:fillRect/>
          </a:stretch>
        </p:blipFill>
        <p:spPr>
          <a:xfrm>
            <a:off x="5715000" y="2798064"/>
            <a:ext cx="3971109" cy="1240403"/>
          </a:xfrm>
          <a:prstGeom prst="rect">
            <a:avLst/>
          </a:prstGeom>
        </p:spPr>
      </p:pic>
      <p:pic>
        <p:nvPicPr>
          <p:cNvPr id="18" name="Image 2" descr="/Users/charlypupier/Documents/Hackathon XRPL/xrpl-lending/bonus/deck-source/shots/d-wall-status.png">    </p:cNvPr>
          <p:cNvPicPr>
            <a:picLocks noChangeAspect="1"/>
          </p:cNvPicPr>
          <p:nvPr/>
        </p:nvPicPr>
        <p:blipFill>
          <a:blip r:embed="rId3"/>
          <a:stretch>
            <a:fillRect/>
          </a:stretch>
        </p:blipFill>
        <p:spPr>
          <a:xfrm>
            <a:off x="5715000" y="4038467"/>
            <a:ext cx="5486400" cy="811033"/>
          </a:xfrm>
          <a:prstGeom prst="rect">
            <a:avLst/>
          </a:prstGeom>
        </p:spPr>
      </p:pic>
      <p:sp>
        <p:nvSpPr>
          <p:cNvPr id="19" name="Text 14"/>
          <p:cNvSpPr txBox="1"/>
          <p:nvPr/>
        </p:nvSpPr>
        <p:spPr>
          <a:xfrm>
            <a:off x="5532120" y="5050669"/>
            <a:ext cx="585216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depositor's withdrawal: refused, the loan took the whole vault.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3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Sell the vault share, not the loan</a:t>
            </a:r>
            <a:endParaRPr lang="en-US" sz="3200" dirty="0"/>
          </a:p>
        </p:txBody>
      </p:sp>
      <p:sp>
        <p:nvSpPr>
          <p:cNvPr id="5" name="Shape 2"/>
          <p:cNvSpPr/>
          <p:nvPr/>
        </p:nvSpPr>
        <p:spPr>
          <a:xfrm>
            <a:off x="1033272" y="2395728"/>
            <a:ext cx="7934706" cy="9144"/>
          </a:xfrm>
          <a:prstGeom prst="rect">
            <a:avLst/>
          </a:prstGeom>
          <a:solidFill>
            <a:srgbClr val="E2E5E8"/>
          </a:solidFill>
          <a:ln/>
        </p:spPr>
      </p:sp>
      <p:sp>
        <p:nvSpPr>
          <p:cNvPr id="6" name="Shape 3"/>
          <p:cNvSpPr/>
          <p:nvPr/>
        </p:nvSpPr>
        <p:spPr>
          <a:xfrm>
            <a:off x="804672" y="2167128"/>
            <a:ext cx="457200" cy="457200"/>
          </a:xfrm>
          <a:prstGeom prst="ellipse">
            <a:avLst/>
          </a:prstGeom>
          <a:solidFill>
            <a:srgbClr val="006AFF"/>
          </a:solidFill>
          <a:ln/>
        </p:spPr>
      </p:sp>
      <p:sp>
        <p:nvSpPr>
          <p:cNvPr id="7" name="Text 4"/>
          <p:cNvSpPr txBox="1"/>
          <p:nvPr/>
        </p:nvSpPr>
        <p:spPr>
          <a:xfrm>
            <a:off x="804672"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8" name="Text 5"/>
          <p:cNvSpPr txBox="1"/>
          <p:nvPr/>
        </p:nvSpPr>
        <p:spPr>
          <a:xfrm>
            <a:off x="804672"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locks the payment</a:t>
            </a:r>
            <a:endParaRPr lang="en-US" sz="1700" dirty="0"/>
          </a:p>
        </p:txBody>
      </p:sp>
      <p:sp>
        <p:nvSpPr>
          <p:cNvPr id="9" name="Shape 6"/>
          <p:cNvSpPr/>
          <p:nvPr/>
        </p:nvSpPr>
        <p:spPr>
          <a:xfrm>
            <a:off x="804672" y="4023360"/>
            <a:ext cx="1777746" cy="292608"/>
          </a:xfrm>
          <a:prstGeom prst="roundRect">
            <a:avLst>
              <a:gd name="adj" fmla="val 50000"/>
            </a:avLst>
          </a:prstGeom>
          <a:solidFill>
            <a:srgbClr val="EBF4FF"/>
          </a:solidFill>
          <a:ln/>
        </p:spPr>
      </p:sp>
      <p:sp>
        <p:nvSpPr>
          <p:cNvPr id="10" name="Text 7"/>
          <p:cNvSpPr txBox="1"/>
          <p:nvPr/>
        </p:nvSpPr>
        <p:spPr>
          <a:xfrm>
            <a:off x="804672"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+2 h</a:t>
            </a:r>
            <a:endParaRPr lang="en-US" sz="950" dirty="0"/>
          </a:p>
        </p:txBody>
      </p:sp>
      <p:sp>
        <p:nvSpPr>
          <p:cNvPr id="11" name="Shape 8"/>
          <p:cNvSpPr/>
          <p:nvPr/>
        </p:nvSpPr>
        <p:spPr>
          <a:xfrm>
            <a:off x="3449574" y="2167128"/>
            <a:ext cx="457200" cy="457200"/>
          </a:xfrm>
          <a:prstGeom prst="ellipse">
            <a:avLst/>
          </a:prstGeom>
          <a:solidFill>
            <a:srgbClr val="006AFF"/>
          </a:solidFill>
          <a:ln/>
        </p:spPr>
      </p:sp>
      <p:sp>
        <p:nvSpPr>
          <p:cNvPr id="12" name="Text 9"/>
          <p:cNvSpPr txBox="1"/>
          <p:nvPr/>
        </p:nvSpPr>
        <p:spPr>
          <a:xfrm>
            <a:off x="3449574"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3" name="Text 10"/>
          <p:cNvSpPr txBox="1"/>
          <p:nvPr/>
        </p:nvSpPr>
        <p:spPr>
          <a:xfrm>
            <a:off x="3449574"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locks her shares</a:t>
            </a:r>
            <a:endParaRPr lang="en-US" sz="1700" dirty="0"/>
          </a:p>
        </p:txBody>
      </p:sp>
      <p:sp>
        <p:nvSpPr>
          <p:cNvPr id="14" name="Shape 11"/>
          <p:cNvSpPr/>
          <p:nvPr/>
        </p:nvSpPr>
        <p:spPr>
          <a:xfrm>
            <a:off x="3449574" y="4023360"/>
            <a:ext cx="1777746" cy="292608"/>
          </a:xfrm>
          <a:prstGeom prst="roundRect">
            <a:avLst>
              <a:gd name="adj" fmla="val 50000"/>
            </a:avLst>
          </a:prstGeom>
          <a:solidFill>
            <a:srgbClr val="EBF4FF"/>
          </a:solidFill>
          <a:ln/>
        </p:spPr>
      </p:sp>
      <p:sp>
        <p:nvSpPr>
          <p:cNvPr id="15" name="Text 12"/>
          <p:cNvSpPr txBox="1"/>
          <p:nvPr/>
        </p:nvSpPr>
        <p:spPr>
          <a:xfrm>
            <a:off x="3449574"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+1 h</a:t>
            </a:r>
            <a:endParaRPr lang="en-US" sz="950" dirty="0"/>
          </a:p>
        </p:txBody>
      </p:sp>
      <p:sp>
        <p:nvSpPr>
          <p:cNvPr id="16" name="Shape 13"/>
          <p:cNvSpPr/>
          <p:nvPr/>
        </p:nvSpPr>
        <p:spPr>
          <a:xfrm>
            <a:off x="6094476" y="2167128"/>
            <a:ext cx="457200" cy="457200"/>
          </a:xfrm>
          <a:prstGeom prst="ellipse">
            <a:avLst/>
          </a:prstGeom>
          <a:solidFill>
            <a:srgbClr val="006AFF"/>
          </a:solidFill>
          <a:ln/>
        </p:spPr>
      </p:sp>
      <p:sp>
        <p:nvSpPr>
          <p:cNvPr id="17" name="Text 14"/>
          <p:cNvSpPr txBox="1"/>
          <p:nvPr/>
        </p:nvSpPr>
        <p:spPr>
          <a:xfrm>
            <a:off x="6094476"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18" name="Text 15"/>
          <p:cNvSpPr txBox="1"/>
          <p:nvPr/>
        </p:nvSpPr>
        <p:spPr>
          <a:xfrm>
            <a:off x="6094476"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takes the shares and reveals the secret</a:t>
            </a:r>
            <a:endParaRPr lang="en-US" sz="1700" dirty="0"/>
          </a:p>
        </p:txBody>
      </p:sp>
      <p:sp>
        <p:nvSpPr>
          <p:cNvPr id="19" name="Shape 16"/>
          <p:cNvSpPr/>
          <p:nvPr/>
        </p:nvSpPr>
        <p:spPr>
          <a:xfrm>
            <a:off x="6094476" y="4023360"/>
            <a:ext cx="1271016" cy="292608"/>
          </a:xfrm>
          <a:prstGeom prst="roundRect">
            <a:avLst>
              <a:gd name="adj" fmla="val 50000"/>
            </a:avLst>
          </a:prstGeom>
          <a:solidFill>
            <a:srgbClr val="EBF4FF"/>
          </a:solidFill>
          <a:ln/>
        </p:spPr>
      </p:sp>
      <p:sp>
        <p:nvSpPr>
          <p:cNvPr id="20" name="Text 17"/>
          <p:cNvSpPr txBox="1"/>
          <p:nvPr/>
        </p:nvSpPr>
        <p:spPr>
          <a:xfrm>
            <a:off x="6094476"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1" name="Shape 18"/>
          <p:cNvSpPr/>
          <p:nvPr/>
        </p:nvSpPr>
        <p:spPr>
          <a:xfrm>
            <a:off x="8739378" y="2167128"/>
            <a:ext cx="457200" cy="457200"/>
          </a:xfrm>
          <a:prstGeom prst="ellipse">
            <a:avLst/>
          </a:prstGeom>
          <a:solidFill>
            <a:srgbClr val="006AFF"/>
          </a:solidFill>
          <a:ln/>
        </p:spPr>
      </p:sp>
      <p:sp>
        <p:nvSpPr>
          <p:cNvPr id="22" name="Text 19"/>
          <p:cNvSpPr txBox="1"/>
          <p:nvPr/>
        </p:nvSpPr>
        <p:spPr>
          <a:xfrm>
            <a:off x="8739378"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3" name="Text 20"/>
          <p:cNvSpPr txBox="1"/>
          <p:nvPr/>
        </p:nvSpPr>
        <p:spPr>
          <a:xfrm>
            <a:off x="8739378"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reads the secret and collects</a:t>
            </a:r>
            <a:endParaRPr lang="en-US" sz="1700" dirty="0"/>
          </a:p>
        </p:txBody>
      </p:sp>
      <p:sp>
        <p:nvSpPr>
          <p:cNvPr id="24" name="Shape 21"/>
          <p:cNvSpPr/>
          <p:nvPr/>
        </p:nvSpPr>
        <p:spPr>
          <a:xfrm>
            <a:off x="8739378" y="4023360"/>
            <a:ext cx="1271016" cy="292608"/>
          </a:xfrm>
          <a:prstGeom prst="roundRect">
            <a:avLst>
              <a:gd name="adj" fmla="val 50000"/>
            </a:avLst>
          </a:prstGeom>
          <a:solidFill>
            <a:srgbClr val="EBF4FF"/>
          </a:solidFill>
          <a:ln/>
        </p:spPr>
      </p:sp>
      <p:sp>
        <p:nvSpPr>
          <p:cNvPr id="25" name="Text 22"/>
          <p:cNvSpPr txBox="1"/>
          <p:nvPr/>
        </p:nvSpPr>
        <p:spPr>
          <a:xfrm>
            <a:off x="8739378"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6" name="Shape 23"/>
          <p:cNvSpPr/>
          <p:nvPr/>
        </p:nvSpPr>
        <p:spPr>
          <a:xfrm>
            <a:off x="804672" y="4892040"/>
            <a:ext cx="10579608" cy="9144"/>
          </a:xfrm>
          <a:prstGeom prst="rect">
            <a:avLst/>
          </a:prstGeom>
          <a:solidFill>
            <a:srgbClr val="E2E5E8"/>
          </a:solidFill>
          <a:ln/>
        </p:spPr>
      </p:sp>
      <p:sp>
        <p:nvSpPr>
          <p:cNvPr id="27" name="Text 24"/>
          <p:cNvSpPr txBox="1"/>
          <p:nvPr/>
        </p:nvSpPr>
        <p:spPr>
          <a:xfrm>
            <a:off x="804672" y="5120640"/>
            <a:ext cx="5120640" cy="320040"/>
          </a:xfrm>
          <a:prstGeom prst="rect">
            <a:avLst/>
          </a:prstGeom>
          <a:noFill/>
          <a:ln/>
        </p:spPr>
        <p:txBody>
          <a:bodyPr wrap="square" lIns="0" tIns="0" rIns="0" bIns="0" rtlCol="0" anchor="t"/>
          <a:lstStyle/>
          <a:p>
            <a:pPr algn="l" indent="0" marL="0">
              <a:buNone/>
            </a:pPr>
            <a:r>
              <a:rPr lang="en-US" sz="1600" dirty="0">
                <a:solidFill>
                  <a:srgbClr val="001C5C"/>
                </a:solidFill>
                <a:latin typeface="Poppins Medium" pitchFamily="34" charset="0"/>
                <a:ea typeface="Poppins Medium" pitchFamily="34" charset="-122"/>
                <a:cs typeface="Poppins Medium" pitchFamily="34" charset="-120"/>
              </a:rPr>
              <a:t>Price: 97% of share value.</a:t>
            </a:r>
            <a:endParaRPr lang="en-US" sz="1600" dirty="0"/>
          </a:p>
        </p:txBody>
      </p:sp>
      <p:sp>
        <p:nvSpPr>
          <p:cNvPr id="28" name="Text 25"/>
          <p:cNvSpPr txBox="1"/>
          <p:nvPr/>
        </p:nvSpPr>
        <p:spPr>
          <a:xfrm>
            <a:off x="6108192" y="5120640"/>
            <a:ext cx="5303520"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pitchFamily="34" charset="0"/>
                <a:ea typeface="Poppins" pitchFamily="34" charset="-122"/>
                <a:cs typeface="Poppins" pitchFamily="34" charset="-120"/>
              </a:rPr>
              <a:t>One SHA-256 condition for both escrows.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4 / 10</a:t>
            </a:r>
            <a:endParaRPr lang="en-US" sz="1000" dirty="0"/>
          </a:p>
        </p:txBody>
      </p:sp>
      <p:sp>
        <p:nvSpPr>
          <p:cNvPr id="4" name="Text 1"/>
          <p:cNvSpPr txBox="1"/>
          <p:nvPr/>
        </p:nvSpPr>
        <p:spPr>
          <a:xfrm>
            <a:off x="758952" y="2514600"/>
            <a:ext cx="4754880" cy="914400"/>
          </a:xfrm>
          <a:prstGeom prst="rect">
            <a:avLst/>
          </a:prstGeom>
          <a:noFill/>
          <a:ln/>
        </p:spPr>
        <p:txBody>
          <a:bodyPr wrap="square" lIns="0" tIns="0" rIns="0" bIns="0" rtlCol="0" anchor="t"/>
          <a:lstStyle/>
          <a:p>
            <a:pPr algn="l" indent="0" marL="0">
              <a:buNone/>
            </a:pPr>
            <a:r>
              <a:rPr lang="en-US" sz="5600" b="1" dirty="0">
                <a:solidFill>
                  <a:srgbClr val="FFFFFF"/>
                </a:solidFill>
                <a:latin typeface="Poppins" pitchFamily="34" charset="0"/>
                <a:ea typeface="Poppins" pitchFamily="34" charset="-122"/>
                <a:cs typeface="Poppins" pitchFamily="34" charset="-120"/>
              </a:rPr>
              <a:t>Live demo.</a:t>
            </a:r>
            <a:endParaRPr lang="en-US" sz="5600" dirty="0"/>
          </a:p>
        </p:txBody>
      </p:sp>
      <p:sp>
        <p:nvSpPr>
          <p:cNvPr id="5" name="Text 2"/>
          <p:cNvSpPr txBox="1"/>
          <p:nvPr/>
        </p:nvSpPr>
        <p:spPr>
          <a:xfrm>
            <a:off x="804672" y="3566160"/>
            <a:ext cx="4572000" cy="731520"/>
          </a:xfrm>
          <a:prstGeom prst="rect">
            <a:avLst/>
          </a:prstGeom>
          <a:noFill/>
          <a:ln/>
        </p:spPr>
        <p:txBody>
          <a:bodyPr wrap="square" lIns="0" tIns="0" rIns="0" bIns="0" rtlCol="0" anchor="t"/>
          <a:lstStyle/>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13 transactions in 56 seconds,</a:t>
            </a:r>
            <a:endParaRPr lang="en-US" sz="1800" dirty="0"/>
          </a:p>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on the devnet, live.</a:t>
            </a:r>
            <a:endParaRPr lang="en-US" sz="1800" dirty="0"/>
          </a:p>
        </p:txBody>
      </p:sp>
      <p:sp>
        <p:nvSpPr>
          <p:cNvPr id="6" name="Shape 3"/>
          <p:cNvSpPr/>
          <p:nvPr/>
        </p:nvSpPr>
        <p:spPr>
          <a:xfrm>
            <a:off x="5806440" y="1417320"/>
            <a:ext cx="5577840" cy="4398264"/>
          </a:xfrm>
          <a:prstGeom prst="roundRect">
            <a:avLst>
              <a:gd name="adj" fmla="val 2911"/>
            </a:avLst>
          </a:prstGeom>
          <a:solidFill>
            <a:srgbClr val="000000"/>
          </a:solidFill>
          <a:ln w="9525">
            <a:solidFill>
              <a:srgbClr val="343437"/>
            </a:solidFill>
            <a:prstDash val="solid"/>
          </a:ln>
        </p:spPr>
      </p:sp>
      <p:sp>
        <p:nvSpPr>
          <p:cNvPr id="7" name="Shape 4"/>
          <p:cNvSpPr/>
          <p:nvPr/>
        </p:nvSpPr>
        <p:spPr>
          <a:xfrm>
            <a:off x="6025896" y="1559052"/>
            <a:ext cx="100584" cy="100584"/>
          </a:xfrm>
          <a:prstGeom prst="ellipse">
            <a:avLst/>
          </a:prstGeom>
          <a:solidFill>
            <a:srgbClr val="FF5F57"/>
          </a:solidFill>
          <a:ln/>
        </p:spPr>
      </p:sp>
      <p:sp>
        <p:nvSpPr>
          <p:cNvPr id="8" name="Shape 5"/>
          <p:cNvSpPr/>
          <p:nvPr/>
        </p:nvSpPr>
        <p:spPr>
          <a:xfrm>
            <a:off x="6208776" y="1559052"/>
            <a:ext cx="100584" cy="100584"/>
          </a:xfrm>
          <a:prstGeom prst="ellipse">
            <a:avLst/>
          </a:prstGeom>
          <a:solidFill>
            <a:srgbClr val="FEBC2E"/>
          </a:solidFill>
          <a:ln/>
        </p:spPr>
      </p:sp>
      <p:sp>
        <p:nvSpPr>
          <p:cNvPr id="9" name="Shape 6"/>
          <p:cNvSpPr/>
          <p:nvPr/>
        </p:nvSpPr>
        <p:spPr>
          <a:xfrm>
            <a:off x="6391656" y="1559052"/>
            <a:ext cx="100584" cy="100584"/>
          </a:xfrm>
          <a:prstGeom prst="ellipse">
            <a:avLst/>
          </a:prstGeom>
          <a:solidFill>
            <a:srgbClr val="28C840"/>
          </a:solidFill>
          <a:ln/>
        </p:spPr>
      </p:sp>
      <p:sp>
        <p:nvSpPr>
          <p:cNvPr id="10" name="Text 7"/>
          <p:cNvSpPr txBox="1"/>
          <p:nvPr/>
        </p:nvSpPr>
        <p:spPr>
          <a:xfrm>
            <a:off x="6702552" y="1417320"/>
            <a:ext cx="448056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~/xrpl-lending  $ node scripts/demo.mjs --auto</a:t>
            </a:r>
            <a:endParaRPr lang="en-US" sz="900" dirty="0"/>
          </a:p>
        </p:txBody>
      </p:sp>
      <p:sp>
        <p:nvSpPr>
          <p:cNvPr id="11" name="Shape 8"/>
          <p:cNvSpPr/>
          <p:nvPr/>
        </p:nvSpPr>
        <p:spPr>
          <a:xfrm>
            <a:off x="5806440" y="1801368"/>
            <a:ext cx="5577840" cy="9144"/>
          </a:xfrm>
          <a:prstGeom prst="rect">
            <a:avLst/>
          </a:prstGeom>
          <a:solidFill>
            <a:srgbClr val="343437"/>
          </a:solidFill>
          <a:ln/>
        </p:spPr>
      </p:sp>
      <p:sp>
        <p:nvSpPr>
          <p:cNvPr id="12" name="Text 9"/>
          <p:cNvSpPr txBox="1"/>
          <p:nvPr/>
        </p:nvSpPr>
        <p:spPr>
          <a:xfrm>
            <a:off x="6281928" y="196596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VaultCreate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3" name="Text 10"/>
          <p:cNvSpPr txBox="1"/>
          <p:nvPr/>
        </p:nvSpPr>
        <p:spPr>
          <a:xfrm>
            <a:off x="6281928" y="224942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4" name="Text 11"/>
          <p:cNvSpPr txBox="1"/>
          <p:nvPr/>
        </p:nvSpPr>
        <p:spPr>
          <a:xfrm>
            <a:off x="6281928" y="253288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LoanBrokerSet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5" name="Text 12"/>
          <p:cNvSpPr txBox="1"/>
          <p:nvPr/>
        </p:nvSpPr>
        <p:spPr>
          <a:xfrm>
            <a:off x="6281928" y="281635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LoanBrokerCoverDeposit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6" name="Text 13"/>
          <p:cNvSpPr txBox="1"/>
          <p:nvPr/>
        </p:nvSpPr>
        <p:spPr>
          <a:xfrm>
            <a:off x="6281928" y="309981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LoanSet 100%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7" name="Shape 14"/>
          <p:cNvSpPr/>
          <p:nvPr/>
        </p:nvSpPr>
        <p:spPr>
          <a:xfrm>
            <a:off x="6080760" y="3483864"/>
            <a:ext cx="82296" cy="82296"/>
          </a:xfrm>
          <a:prstGeom prst="ellipse">
            <a:avLst/>
          </a:prstGeom>
          <a:solidFill>
            <a:srgbClr val="FF884B"/>
          </a:solidFill>
          <a:ln/>
        </p:spPr>
      </p:sp>
      <p:sp>
        <p:nvSpPr>
          <p:cNvPr id="18" name="Text 15"/>
          <p:cNvSpPr txBox="1"/>
          <p:nvPr/>
        </p:nvSpPr>
        <p:spPr>
          <a:xfrm>
            <a:off x="6281928" y="338328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FF884B"/>
                </a:solidFill>
                <a:latin typeface="Menlo" pitchFamily="34" charset="0"/>
                <a:ea typeface="Menlo" pitchFamily="34" charset="-122"/>
                <a:cs typeface="Menlo" pitchFamily="34" charset="-120"/>
              </a:rPr>
              <a:t>tecINSUFFICIENT_FUNDS</a:t>
            </a:r>
            <a:endParaRPr lang="en-US" sz="1150" dirty="0"/>
          </a:p>
        </p:txBody>
      </p:sp>
      <p:sp>
        <p:nvSpPr>
          <p:cNvPr id="19" name="Text 16"/>
          <p:cNvSpPr txBox="1"/>
          <p:nvPr/>
        </p:nvSpPr>
        <p:spPr>
          <a:xfrm>
            <a:off x="6281928" y="366674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MPTokenAuthorize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0" name="Text 17"/>
          <p:cNvSpPr txBox="1"/>
          <p:nvPr/>
        </p:nvSpPr>
        <p:spPr>
          <a:xfrm>
            <a:off x="6281928" y="395020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EscrowCreate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1" name="Text 18"/>
          <p:cNvSpPr txBox="1"/>
          <p:nvPr/>
        </p:nvSpPr>
        <p:spPr>
          <a:xfrm>
            <a:off x="6281928" y="423367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EscrowFinish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2" name="Text 19"/>
          <p:cNvSpPr txBox="1"/>
          <p:nvPr/>
        </p:nvSpPr>
        <p:spPr>
          <a:xfrm>
            <a:off x="6281928" y="451713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LoanPay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3" name="Text 20"/>
          <p:cNvSpPr txBox="1"/>
          <p:nvPr/>
        </p:nvSpPr>
        <p:spPr>
          <a:xfrm>
            <a:off x="6281928" y="480060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4" name="Text 21"/>
          <p:cNvSpPr txBox="1"/>
          <p:nvPr/>
        </p:nvSpPr>
        <p:spPr>
          <a:xfrm>
            <a:off x="6281928" y="5367528"/>
            <a:ext cx="4846320" cy="283464"/>
          </a:xfrm>
          <a:prstGeom prst="rect">
            <a:avLst/>
          </a:prstGeom>
          <a:noFill/>
          <a:ln/>
        </p:spPr>
        <p:txBody>
          <a:bodyPr wrap="square" lIns="0" tIns="0" rIns="0" bIns="0" rtlCol="0" anchor="ctr"/>
          <a:lstStyle/>
          <a:p>
            <a:pPr indent="0" marL="0">
              <a:buNone/>
            </a:pPr>
            <a:r>
              <a:rPr lang="en-US" sz="1150" dirty="0">
                <a:solidFill>
                  <a:srgbClr val="A2A2A4"/>
                </a:solidFill>
                <a:latin typeface="Menlo" pitchFamily="34" charset="0"/>
                <a:ea typeface="Menlo" pitchFamily="34" charset="-122"/>
                <a:cs typeface="Menlo" pitchFamily="34" charset="-120"/>
              </a:rPr>
              <a:t>Total time  00:56</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5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Minimum bar: 8 of 8</a:t>
            </a:r>
            <a:endParaRPr lang="en-US" sz="3200" dirty="0"/>
          </a:p>
        </p:txBody>
      </p:sp>
      <p:sp>
        <p:nvSpPr>
          <p:cNvPr id="5" name="Shape 2"/>
          <p:cNvSpPr/>
          <p:nvPr/>
        </p:nvSpPr>
        <p:spPr>
          <a:xfrm>
            <a:off x="804672" y="1783080"/>
            <a:ext cx="6675120" cy="3822192"/>
          </a:xfrm>
          <a:prstGeom prst="roundRect">
            <a:avLst>
              <a:gd name="adj" fmla="val 3349"/>
            </a:avLst>
          </a:prstGeom>
          <a:solidFill>
            <a:srgbClr val="000000"/>
          </a:solidFill>
          <a:ln w="9525">
            <a:solidFill>
              <a:srgbClr val="343437"/>
            </a:solidFill>
            <a:prstDash val="solid"/>
          </a:ln>
        </p:spPr>
      </p:sp>
      <p:sp>
        <p:nvSpPr>
          <p:cNvPr id="6" name="Shape 3"/>
          <p:cNvSpPr/>
          <p:nvPr/>
        </p:nvSpPr>
        <p:spPr>
          <a:xfrm>
            <a:off x="1024128" y="1924812"/>
            <a:ext cx="100584" cy="100584"/>
          </a:xfrm>
          <a:prstGeom prst="ellipse">
            <a:avLst/>
          </a:prstGeom>
          <a:solidFill>
            <a:srgbClr val="FF5F57"/>
          </a:solidFill>
          <a:ln/>
        </p:spPr>
      </p:sp>
      <p:sp>
        <p:nvSpPr>
          <p:cNvPr id="7" name="Shape 4"/>
          <p:cNvSpPr/>
          <p:nvPr/>
        </p:nvSpPr>
        <p:spPr>
          <a:xfrm>
            <a:off x="1207008" y="1924812"/>
            <a:ext cx="100584" cy="100584"/>
          </a:xfrm>
          <a:prstGeom prst="ellipse">
            <a:avLst/>
          </a:prstGeom>
          <a:solidFill>
            <a:srgbClr val="FEBC2E"/>
          </a:solidFill>
          <a:ln/>
        </p:spPr>
      </p:sp>
      <p:sp>
        <p:nvSpPr>
          <p:cNvPr id="8" name="Shape 5"/>
          <p:cNvSpPr/>
          <p:nvPr/>
        </p:nvSpPr>
        <p:spPr>
          <a:xfrm>
            <a:off x="1389888" y="1924812"/>
            <a:ext cx="100584" cy="100584"/>
          </a:xfrm>
          <a:prstGeom prst="ellipse">
            <a:avLst/>
          </a:prstGeom>
          <a:solidFill>
            <a:srgbClr val="28C840"/>
          </a:solidFill>
          <a:ln/>
        </p:spPr>
      </p:sp>
      <p:sp>
        <p:nvSpPr>
          <p:cNvPr id="9" name="Text 6"/>
          <p:cNvSpPr txBox="1"/>
          <p:nvPr/>
        </p:nvSpPr>
        <p:spPr>
          <a:xfrm>
            <a:off x="1700784" y="1783080"/>
            <a:ext cx="557784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README.md  ›  one hash per step</a:t>
            </a:r>
            <a:endParaRPr lang="en-US" sz="900" dirty="0"/>
          </a:p>
        </p:txBody>
      </p:sp>
      <p:sp>
        <p:nvSpPr>
          <p:cNvPr id="10" name="Shape 7"/>
          <p:cNvSpPr/>
          <p:nvPr/>
        </p:nvSpPr>
        <p:spPr>
          <a:xfrm>
            <a:off x="804672" y="2167128"/>
            <a:ext cx="6675120" cy="9144"/>
          </a:xfrm>
          <a:prstGeom prst="rect">
            <a:avLst/>
          </a:prstGeom>
          <a:solidFill>
            <a:srgbClr val="343437"/>
          </a:solidFill>
          <a:ln/>
        </p:spPr>
      </p:sp>
      <p:sp>
        <p:nvSpPr>
          <p:cNvPr id="11" name="Text 8"/>
          <p:cNvSpPr txBox="1"/>
          <p:nvPr/>
        </p:nvSpPr>
        <p:spPr>
          <a:xfrm>
            <a:off x="1280160" y="233172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1  Open-ended vault        </a:t>
            </a:r>
            <a:pPr indent="0" marL="0">
              <a:buNone/>
            </a:pPr>
            <a:r>
              <a:rPr lang="en-US" sz="1200" dirty="0">
                <a:solidFill>
                  <a:srgbClr val="B480FF"/>
                </a:solidFill>
                <a:latin typeface="Menlo" pitchFamily="34" charset="0"/>
                <a:ea typeface="Menlo" pitchFamily="34" charset="-122"/>
                <a:cs typeface="Menlo" pitchFamily="34" charset="-120"/>
              </a:rPr>
              <a:t>VaultCreate</a:t>
            </a:r>
            <a:endParaRPr lang="en-US" sz="1200" dirty="0"/>
          </a:p>
        </p:txBody>
      </p:sp>
      <p:sp>
        <p:nvSpPr>
          <p:cNvPr id="12" name="Text 9"/>
          <p:cNvSpPr txBox="1"/>
          <p:nvPr/>
        </p:nvSpPr>
        <p:spPr>
          <a:xfrm>
            <a:off x="1280160" y="264261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2  Deposit                 </a:t>
            </a:r>
            <a:pPr indent="0" marL="0">
              <a:buNone/>
            </a:pPr>
            <a:r>
              <a:rPr lang="en-US" sz="1200" dirty="0">
                <a:solidFill>
                  <a:srgbClr val="B480FF"/>
                </a:solidFill>
                <a:latin typeface="Menlo" pitchFamily="34" charset="0"/>
                <a:ea typeface="Menlo" pitchFamily="34" charset="-122"/>
                <a:cs typeface="Menlo" pitchFamily="34" charset="-120"/>
              </a:rPr>
              <a:t>VaultDeposit</a:t>
            </a:r>
            <a:endParaRPr lang="en-US" sz="1200" dirty="0"/>
          </a:p>
        </p:txBody>
      </p:sp>
      <p:sp>
        <p:nvSpPr>
          <p:cNvPr id="13" name="Text 10"/>
          <p:cNvSpPr txBox="1"/>
          <p:nvPr/>
        </p:nvSpPr>
        <p:spPr>
          <a:xfrm>
            <a:off x="1280160" y="295351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3  Broker + cover          </a:t>
            </a:r>
            <a:pPr indent="0" marL="0">
              <a:buNone/>
            </a:pPr>
            <a:r>
              <a:rPr lang="en-US" sz="1200" dirty="0">
                <a:solidFill>
                  <a:srgbClr val="B480FF"/>
                </a:solidFill>
                <a:latin typeface="Menlo" pitchFamily="34" charset="0"/>
                <a:ea typeface="Menlo" pitchFamily="34" charset="-122"/>
                <a:cs typeface="Menlo" pitchFamily="34" charset="-120"/>
              </a:rPr>
              <a:t>LoanBrokerSet</a:t>
            </a:r>
            <a:endParaRPr lang="en-US" sz="1200" dirty="0"/>
          </a:p>
        </p:txBody>
      </p:sp>
      <p:sp>
        <p:nvSpPr>
          <p:cNvPr id="14" name="Text 11"/>
          <p:cNvSpPr txBox="1"/>
          <p:nvPr/>
        </p:nvSpPr>
        <p:spPr>
          <a:xfrm>
            <a:off x="1280160" y="3264408"/>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4  Origination + drawdown  </a:t>
            </a:r>
            <a:pPr indent="0" marL="0">
              <a:buNone/>
            </a:pPr>
            <a:r>
              <a:rPr lang="en-US" sz="1200" dirty="0">
                <a:solidFill>
                  <a:srgbClr val="B480FF"/>
                </a:solidFill>
                <a:latin typeface="Menlo" pitchFamily="34" charset="0"/>
                <a:ea typeface="Menlo" pitchFamily="34" charset="-122"/>
                <a:cs typeface="Menlo" pitchFamily="34" charset="-120"/>
              </a:rPr>
              <a:t>LoanSet</a:t>
            </a:r>
            <a:endParaRPr lang="en-US" sz="1200" dirty="0"/>
          </a:p>
        </p:txBody>
      </p:sp>
      <p:sp>
        <p:nvSpPr>
          <p:cNvPr id="15" name="Text 12"/>
          <p:cNvSpPr txBox="1"/>
          <p:nvPr/>
        </p:nvSpPr>
        <p:spPr>
          <a:xfrm>
            <a:off x="1280160" y="3575304"/>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5  Repayment               </a:t>
            </a:r>
            <a:pPr indent="0" marL="0">
              <a:buNone/>
            </a:pPr>
            <a:r>
              <a:rPr lang="en-US" sz="1200" dirty="0">
                <a:solidFill>
                  <a:srgbClr val="B480FF"/>
                </a:solidFill>
                <a:latin typeface="Menlo" pitchFamily="34" charset="0"/>
                <a:ea typeface="Menlo" pitchFamily="34" charset="-122"/>
                <a:cs typeface="Menlo" pitchFamily="34" charset="-120"/>
              </a:rPr>
              <a:t>LoanPay</a:t>
            </a:r>
            <a:endParaRPr lang="en-US" sz="1200" dirty="0"/>
          </a:p>
        </p:txBody>
      </p:sp>
      <p:sp>
        <p:nvSpPr>
          <p:cNvPr id="16" name="Text 13"/>
          <p:cNvSpPr txBox="1"/>
          <p:nvPr/>
        </p:nvSpPr>
        <p:spPr>
          <a:xfrm>
            <a:off x="1280160" y="388620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6  Principal + yield       </a:t>
            </a:r>
            <a:pPr indent="0" marL="0">
              <a:buNone/>
            </a:pPr>
            <a:r>
              <a:rPr lang="en-US" sz="1200" dirty="0">
                <a:solidFill>
                  <a:srgbClr val="B480FF"/>
                </a:solidFill>
                <a:latin typeface="Menlo" pitchFamily="34" charset="0"/>
                <a:ea typeface="Menlo" pitchFamily="34" charset="-122"/>
                <a:cs typeface="Menlo" pitchFamily="34" charset="-120"/>
              </a:rPr>
              <a:t>VaultWithdraw</a:t>
            </a:r>
            <a:endParaRPr lang="en-US" sz="1200" dirty="0"/>
          </a:p>
        </p:txBody>
      </p:sp>
      <p:sp>
        <p:nvSpPr>
          <p:cNvPr id="17" name="Text 14"/>
          <p:cNvSpPr txBox="1"/>
          <p:nvPr/>
        </p:nvSpPr>
        <p:spPr>
          <a:xfrm>
            <a:off x="1280160" y="419709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7  Guardrails triggered    </a:t>
            </a:r>
            <a:pPr indent="0" marL="0">
              <a:buNone/>
            </a:pPr>
            <a:r>
              <a:rPr lang="en-US" sz="1200" dirty="0">
                <a:solidFill>
                  <a:srgbClr val="FF884B"/>
                </a:solidFill>
                <a:latin typeface="Menlo" pitchFamily="34" charset="0"/>
                <a:ea typeface="Menlo" pitchFamily="34" charset="-122"/>
                <a:cs typeface="Menlo" pitchFamily="34" charset="-120"/>
              </a:rPr>
              <a:t>12 × tec in the README</a:t>
            </a:r>
            <a:endParaRPr lang="en-US" sz="1200" dirty="0"/>
          </a:p>
        </p:txBody>
      </p:sp>
      <p:sp>
        <p:nvSpPr>
          <p:cNvPr id="18" name="Text 15"/>
          <p:cNvSpPr txBox="1"/>
          <p:nvPr/>
        </p:nvSpPr>
        <p:spPr>
          <a:xfrm>
            <a:off x="1280160" y="450799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8  Use case                </a:t>
            </a:r>
            <a:pPr indent="0" marL="0">
              <a:buNone/>
            </a:pPr>
            <a:r>
              <a:rPr lang="en-US" sz="1200" dirty="0">
                <a:solidFill>
                  <a:srgbClr val="B480FF"/>
                </a:solidFill>
                <a:latin typeface="Menlo" pitchFamily="34" charset="0"/>
                <a:ea typeface="Menlo" pitchFamily="34" charset="-122"/>
                <a:cs typeface="Menlo" pitchFamily="34" charset="-120"/>
              </a:rPr>
              <a:t>Exit Lane</a:t>
            </a:r>
            <a:endParaRPr lang="en-US" sz="1200" dirty="0"/>
          </a:p>
        </p:txBody>
      </p:sp>
      <p:sp>
        <p:nvSpPr>
          <p:cNvPr id="19" name="Text 16"/>
          <p:cNvSpPr txBox="1"/>
          <p:nvPr/>
        </p:nvSpPr>
        <p:spPr>
          <a:xfrm>
            <a:off x="1280160" y="5129784"/>
            <a:ext cx="5943600" cy="310896"/>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   share value  1.000000000  →  </a:t>
            </a:r>
            <a:pPr indent="0" marL="0">
              <a:buNone/>
            </a:pPr>
            <a:r>
              <a:rPr lang="en-US" sz="1200" dirty="0">
                <a:solidFill>
                  <a:srgbClr val="84F0B6"/>
                </a:solidFill>
                <a:latin typeface="Menlo" pitchFamily="34" charset="0"/>
                <a:ea typeface="Menlo" pitchFamily="34" charset="-122"/>
                <a:cs typeface="Menlo" pitchFamily="34" charset="-120"/>
              </a:rPr>
              <a:t>1.006443880</a:t>
            </a:r>
            <a:endParaRPr lang="en-US" sz="1200" dirty="0"/>
          </a:p>
        </p:txBody>
      </p:sp>
      <p:sp>
        <p:nvSpPr>
          <p:cNvPr id="20" name="Text 17"/>
          <p:cNvSpPr txBox="1"/>
          <p:nvPr/>
        </p:nvSpPr>
        <p:spPr>
          <a:xfrm>
            <a:off x="8092440" y="205740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15 / 15</a:t>
            </a:r>
            <a:endParaRPr lang="en-US" sz="4400" dirty="0"/>
          </a:p>
        </p:txBody>
      </p:sp>
      <p:sp>
        <p:nvSpPr>
          <p:cNvPr id="21" name="Text 18"/>
          <p:cNvSpPr txBox="1"/>
          <p:nvPr/>
        </p:nvSpPr>
        <p:spPr>
          <a:xfrm>
            <a:off x="8092440" y="284941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XLS-65/66 types submitted to the ledger</a:t>
            </a:r>
            <a:endParaRPr lang="en-US" sz="1300" dirty="0"/>
          </a:p>
        </p:txBody>
      </p:sp>
      <p:sp>
        <p:nvSpPr>
          <p:cNvPr id="22" name="Text 19"/>
          <p:cNvSpPr txBox="1"/>
          <p:nvPr/>
        </p:nvSpPr>
        <p:spPr>
          <a:xfrm>
            <a:off x="8092440" y="370332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0</a:t>
            </a:r>
            <a:endParaRPr lang="en-US" sz="4400" dirty="0"/>
          </a:p>
        </p:txBody>
      </p:sp>
      <p:sp>
        <p:nvSpPr>
          <p:cNvPr id="23" name="Text 20"/>
          <p:cNvSpPr txBox="1"/>
          <p:nvPr/>
        </p:nvSpPr>
        <p:spPr>
          <a:xfrm>
            <a:off x="8092440" y="449533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missing types in xrpl@4.6.0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6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fixCleanup3_4_0: enabled, missing from xrpl.org</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Two lending behaviours change on the devnet.</a:t>
            </a:r>
            <a:endParaRPr lang="en-US" sz="1600" dirty="0"/>
          </a:p>
        </p:txBody>
      </p:sp>
      <p:sp>
        <p:nvSpPr>
          <p:cNvPr id="6" name="Shape 3"/>
          <p:cNvSpPr/>
          <p:nvPr/>
        </p:nvSpPr>
        <p:spPr>
          <a:xfrm>
            <a:off x="804672" y="2240280"/>
            <a:ext cx="5106924" cy="2029968"/>
          </a:xfrm>
          <a:prstGeom prst="roundRect">
            <a:avLst>
              <a:gd name="adj" fmla="val 6306"/>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tfLoanImpair  ›  due date T</a:t>
            </a:r>
            <a:endParaRPr lang="en-US" sz="900" dirty="0"/>
          </a:p>
        </p:txBody>
      </p:sp>
      <p:sp>
        <p:nvSpPr>
          <p:cNvPr id="11" name="Shape 8"/>
          <p:cNvSpPr/>
          <p:nvPr/>
        </p:nvSpPr>
        <p:spPr>
          <a:xfrm>
            <a:off x="804672" y="2624328"/>
            <a:ext cx="5106924" cy="9144"/>
          </a:xfrm>
          <a:prstGeom prst="rect">
            <a:avLst/>
          </a:prstGeom>
          <a:solidFill>
            <a:srgbClr val="343437"/>
          </a:solidFill>
          <a:ln/>
        </p:spPr>
      </p:sp>
      <p:sp>
        <p:nvSpPr>
          <p:cNvPr id="12" name="Shape 9"/>
          <p:cNvSpPr/>
          <p:nvPr/>
        </p:nvSpPr>
        <p:spPr>
          <a:xfrm>
            <a:off x="1078992" y="2912364"/>
            <a:ext cx="82296" cy="82296"/>
          </a:xfrm>
          <a:prstGeom prst="ellipse">
            <a:avLst/>
          </a:prstGeom>
          <a:solidFill>
            <a:srgbClr val="FF884B"/>
          </a:solidFill>
          <a:ln/>
        </p:spPr>
      </p:sp>
      <p:sp>
        <p:nvSpPr>
          <p:cNvPr id="13" name="Text 10"/>
          <p:cNvSpPr txBox="1"/>
          <p:nvPr/>
        </p:nvSpPr>
        <p:spPr>
          <a:xfrm>
            <a:off x="1280160" y="2788920"/>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− 31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4" name="Shape 11"/>
          <p:cNvSpPr/>
          <p:nvPr/>
        </p:nvSpPr>
        <p:spPr>
          <a:xfrm>
            <a:off x="1078992" y="3241548"/>
            <a:ext cx="82296" cy="82296"/>
          </a:xfrm>
          <a:prstGeom prst="ellipse">
            <a:avLst/>
          </a:prstGeom>
          <a:solidFill>
            <a:srgbClr val="FF884B"/>
          </a:solidFill>
          <a:ln/>
        </p:spPr>
      </p:sp>
      <p:sp>
        <p:nvSpPr>
          <p:cNvPr id="15" name="Text 12"/>
          <p:cNvSpPr txBox="1"/>
          <p:nvPr/>
        </p:nvSpPr>
        <p:spPr>
          <a:xfrm>
            <a:off x="1280160" y="3118104"/>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− 13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6" name="Text 13"/>
          <p:cNvSpPr txBox="1"/>
          <p:nvPr/>
        </p:nvSpPr>
        <p:spPr>
          <a:xfrm>
            <a:off x="1280160" y="3447288"/>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5 s    </a:t>
            </a:r>
            <a:pPr indent="0" marL="0">
              <a:buNone/>
            </a:pPr>
            <a:r>
              <a:rPr lang="en-US" sz="1200" dirty="0">
                <a:solidFill>
                  <a:srgbClr val="84F0B6"/>
                </a:solidFill>
                <a:latin typeface="Menlo" pitchFamily="34" charset="0"/>
                <a:ea typeface="Menlo" pitchFamily="34" charset="-122"/>
                <a:cs typeface="Menlo" pitchFamily="34" charset="-120"/>
              </a:rPr>
              <a:t>tesSUCCESS</a:t>
            </a:r>
            <a:endParaRPr lang="en-US" sz="1200" dirty="0"/>
          </a:p>
        </p:txBody>
      </p:sp>
      <p:sp>
        <p:nvSpPr>
          <p:cNvPr id="17" name="Shape 14"/>
          <p:cNvSpPr/>
          <p:nvPr/>
        </p:nvSpPr>
        <p:spPr>
          <a:xfrm>
            <a:off x="6277356" y="2240280"/>
            <a:ext cx="5106924" cy="2029968"/>
          </a:xfrm>
          <a:prstGeom prst="roundRect">
            <a:avLst>
              <a:gd name="adj" fmla="val 6306"/>
            </a:avLst>
          </a:prstGeom>
          <a:solidFill>
            <a:srgbClr val="000000"/>
          </a:solidFill>
          <a:ln w="9525">
            <a:solidFill>
              <a:srgbClr val="343437"/>
            </a:solidFill>
            <a:prstDash val="solid"/>
          </a:ln>
        </p:spPr>
      </p:sp>
      <p:sp>
        <p:nvSpPr>
          <p:cNvPr id="18" name="Shape 15"/>
          <p:cNvSpPr/>
          <p:nvPr/>
        </p:nvSpPr>
        <p:spPr>
          <a:xfrm>
            <a:off x="6496812" y="2382012"/>
            <a:ext cx="100584" cy="100584"/>
          </a:xfrm>
          <a:prstGeom prst="ellipse">
            <a:avLst/>
          </a:prstGeom>
          <a:solidFill>
            <a:srgbClr val="FF5F57"/>
          </a:solidFill>
          <a:ln/>
        </p:spPr>
      </p:sp>
      <p:sp>
        <p:nvSpPr>
          <p:cNvPr id="19" name="Shape 16"/>
          <p:cNvSpPr/>
          <p:nvPr/>
        </p:nvSpPr>
        <p:spPr>
          <a:xfrm>
            <a:off x="6679692" y="2382012"/>
            <a:ext cx="100584" cy="100584"/>
          </a:xfrm>
          <a:prstGeom prst="ellipse">
            <a:avLst/>
          </a:prstGeom>
          <a:solidFill>
            <a:srgbClr val="FEBC2E"/>
          </a:solidFill>
          <a:ln/>
        </p:spPr>
      </p:sp>
      <p:sp>
        <p:nvSpPr>
          <p:cNvPr id="20" name="Shape 17"/>
          <p:cNvSpPr/>
          <p:nvPr/>
        </p:nvSpPr>
        <p:spPr>
          <a:xfrm>
            <a:off x="6862572" y="2382012"/>
            <a:ext cx="100584" cy="100584"/>
          </a:xfrm>
          <a:prstGeom prst="ellipse">
            <a:avLst/>
          </a:prstGeom>
          <a:solidFill>
            <a:srgbClr val="28C840"/>
          </a:solidFill>
          <a:ln/>
        </p:spPr>
      </p:sp>
      <p:sp>
        <p:nvSpPr>
          <p:cNvPr id="21" name="Text 18"/>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LoanSet  ›  CounterpartySignature</a:t>
            </a:r>
            <a:endParaRPr lang="en-US" sz="900" dirty="0"/>
          </a:p>
        </p:txBody>
      </p:sp>
      <p:sp>
        <p:nvSpPr>
          <p:cNvPr id="22" name="Shape 19"/>
          <p:cNvSpPr/>
          <p:nvPr/>
        </p:nvSpPr>
        <p:spPr>
          <a:xfrm>
            <a:off x="6277356" y="2624328"/>
            <a:ext cx="5106924" cy="9144"/>
          </a:xfrm>
          <a:prstGeom prst="rect">
            <a:avLst/>
          </a:prstGeom>
          <a:solidFill>
            <a:srgbClr val="343437"/>
          </a:solidFill>
          <a:ln/>
        </p:spPr>
      </p:sp>
      <p:sp>
        <p:nvSpPr>
          <p:cNvPr id="23" name="Shape 20"/>
          <p:cNvSpPr/>
          <p:nvPr/>
        </p:nvSpPr>
        <p:spPr>
          <a:xfrm>
            <a:off x="6551676" y="2912364"/>
            <a:ext cx="82296" cy="82296"/>
          </a:xfrm>
          <a:prstGeom prst="ellipse">
            <a:avLst/>
          </a:prstGeom>
          <a:solidFill>
            <a:srgbClr val="FF884B"/>
          </a:solidFill>
          <a:ln/>
        </p:spPr>
      </p:sp>
      <p:sp>
        <p:nvSpPr>
          <p:cNvPr id="24" name="Text 21"/>
          <p:cNvSpPr txBox="1"/>
          <p:nvPr/>
        </p:nvSpPr>
        <p:spPr>
          <a:xfrm>
            <a:off x="6752844" y="2788920"/>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signLoanSetByCounterparty</a:t>
            </a:r>
            <a:endParaRPr lang="en-US" sz="1200" dirty="0"/>
          </a:p>
        </p:txBody>
      </p:sp>
      <p:sp>
        <p:nvSpPr>
          <p:cNvPr id="25" name="Text 22"/>
          <p:cNvSpPr txBox="1"/>
          <p:nvPr/>
        </p:nvSpPr>
        <p:spPr>
          <a:xfrm>
            <a:off x="6752844" y="3118104"/>
            <a:ext cx="4375404" cy="329184"/>
          </a:xfrm>
          <a:prstGeom prst="rect">
            <a:avLst/>
          </a:prstGeom>
          <a:noFill/>
          <a:ln/>
        </p:spPr>
        <p:txBody>
          <a:bodyPr wrap="square" lIns="0" tIns="0" rIns="0" bIns="0" rtlCol="0" anchor="ctr"/>
          <a:lstStyle/>
          <a:p>
            <a:pPr indent="0" marL="0">
              <a:buNone/>
            </a:pPr>
            <a:r>
              <a:rPr lang="en-US" sz="1200" dirty="0">
                <a:solidFill>
                  <a:srgbClr val="FF884B"/>
                </a:solidFill>
                <a:latin typeface="Menlo" pitchFamily="34" charset="0"/>
                <a:ea typeface="Menlo" pitchFamily="34" charset="-122"/>
                <a:cs typeface="Menlo" pitchFamily="34" charset="-120"/>
              </a:rPr>
              <a:t>  Counterparty: Invalid signature.</a:t>
            </a:r>
            <a:endParaRPr lang="en-US" sz="1200" dirty="0"/>
          </a:p>
        </p:txBody>
      </p:sp>
      <p:sp>
        <p:nvSpPr>
          <p:cNvPr id="26" name="Text 23"/>
          <p:cNvSpPr txBox="1"/>
          <p:nvPr/>
        </p:nvSpPr>
        <p:spPr>
          <a:xfrm>
            <a:off x="6752844" y="3447288"/>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encodeForSigningCounterparty</a:t>
            </a:r>
            <a:endParaRPr lang="en-US" sz="1200" dirty="0"/>
          </a:p>
        </p:txBody>
      </p:sp>
      <p:sp>
        <p:nvSpPr>
          <p:cNvPr id="27" name="Text 24"/>
          <p:cNvSpPr txBox="1"/>
          <p:nvPr/>
        </p:nvSpPr>
        <p:spPr>
          <a:xfrm>
            <a:off x="6752844" y="3776472"/>
            <a:ext cx="4375404" cy="329184"/>
          </a:xfrm>
          <a:prstGeom prst="rect">
            <a:avLst/>
          </a:prstGeom>
          <a:noFill/>
          <a:ln/>
        </p:spPr>
        <p:txBody>
          <a:bodyPr wrap="square" lIns="0" tIns="0" rIns="0" bIns="0" rtlCol="0" anchor="ctr"/>
          <a:lstStyle/>
          <a:p>
            <a:pPr indent="0" marL="0">
              <a:buNone/>
            </a:pPr>
            <a:r>
              <a:rPr lang="en-US" sz="1200" dirty="0">
                <a:solidFill>
                  <a:srgbClr val="84F0B6"/>
                </a:solidFill>
                <a:latin typeface="Menlo" pitchFamily="34" charset="0"/>
                <a:ea typeface="Menlo" pitchFamily="34" charset="-122"/>
                <a:cs typeface="Menlo" pitchFamily="34" charset="-120"/>
              </a:rPr>
              <a:t>  tesSUCCESS   </a:t>
            </a:r>
            <a:pPr indent="0" marL="0">
              <a:buNone/>
            </a:pPr>
            <a:r>
              <a:rPr lang="en-US" sz="1200" dirty="0">
                <a:solidFill>
                  <a:srgbClr val="A2A2A4"/>
                </a:solidFill>
                <a:latin typeface="Menlo" pitchFamily="34" charset="0"/>
                <a:ea typeface="Menlo" pitchFamily="34" charset="-122"/>
                <a:cs typeface="Menlo" pitchFamily="34" charset="-120"/>
              </a:rPr>
              <a:t>23631C36…</a:t>
            </a:r>
            <a:endParaRPr lang="en-US" sz="1200" dirty="0"/>
          </a:p>
        </p:txBody>
      </p:sp>
      <p:sp>
        <p:nvSpPr>
          <p:cNvPr id="28" name="Text 25"/>
          <p:cNvSpPr txBox="1"/>
          <p:nvPr/>
        </p:nvSpPr>
        <p:spPr>
          <a:xfrm>
            <a:off x="804672"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Impairment refused before the due date, accepted 5 s after.</a:t>
            </a:r>
            <a:endParaRPr lang="en-US" sz="1150" dirty="0"/>
          </a:p>
        </p:txBody>
      </p:sp>
      <p:sp>
        <p:nvSpPr>
          <p:cNvPr id="29" name="Text 26"/>
          <p:cNvSpPr txBox="1"/>
          <p:nvPr/>
        </p:nvSpPr>
        <p:spPr>
          <a:xfrm>
            <a:off x="6277356"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xrpl@4.6.0 helper is rejected, the new encoding passes.</a:t>
            </a:r>
            <a:endParaRPr lang="en-US" sz="1150" dirty="0"/>
          </a:p>
        </p:txBody>
      </p:sp>
      <p:sp>
        <p:nvSpPr>
          <p:cNvPr id="30" name="Shape 27"/>
          <p:cNvSpPr/>
          <p:nvPr/>
        </p:nvSpPr>
        <p:spPr>
          <a:xfrm>
            <a:off x="804672" y="4754880"/>
            <a:ext cx="10579608" cy="9144"/>
          </a:xfrm>
          <a:prstGeom prst="rect">
            <a:avLst/>
          </a:prstGeom>
          <a:solidFill>
            <a:srgbClr val="E2E5E8"/>
          </a:solidFill>
          <a:ln/>
        </p:spPr>
      </p:sp>
      <p:sp>
        <p:nvSpPr>
          <p:cNvPr id="31" name="Text 2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Manage a Loan tutorial</a:t>
            </a:r>
            <a:endParaRPr lang="en-US" sz="1500" dirty="0"/>
          </a:p>
        </p:txBody>
      </p:sp>
      <p:sp>
        <p:nvSpPr>
          <p:cNvPr id="32" name="Text 2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“impair a loan before a payment due date passes”</a:t>
            </a:r>
            <a:endParaRPr lang="en-US" sz="1500" dirty="0"/>
          </a:p>
        </p:txBody>
      </p:sp>
      <p:sp>
        <p:nvSpPr>
          <p:cNvPr id="33" name="Text 3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xrpl@4.6.0</a:t>
            </a:r>
            <a:endParaRPr lang="en-US" sz="1500" dirty="0"/>
          </a:p>
        </p:txBody>
      </p:sp>
      <p:sp>
        <p:nvSpPr>
          <p:cNvPr id="34" name="Text 3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signLoanSetByCounterparty signs with the previous prefix.</a:t>
            </a:r>
            <a:endParaRPr lang="en-US" sz="1500" dirty="0"/>
          </a:p>
        </p:txBody>
      </p:sp>
      <p:sp>
        <p:nvSpPr>
          <p:cNvPr id="35" name="Text 3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6" name="Text 3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list the amendment, sign with encodeForSigningCounterparty.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7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A late LoanPay requires tfLoanLatePayment</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Same loan, same amount, past its due date.</a:t>
            </a:r>
            <a:endParaRPr lang="en-US" sz="1600" dirty="0"/>
          </a:p>
        </p:txBody>
      </p:sp>
      <p:sp>
        <p:nvSpPr>
          <p:cNvPr id="6" name="Shape 3"/>
          <p:cNvSpPr/>
          <p:nvPr/>
        </p:nvSpPr>
        <p:spPr>
          <a:xfrm>
            <a:off x="804672" y="2240280"/>
            <a:ext cx="5106924" cy="1969176"/>
          </a:xfrm>
          <a:prstGeom prst="roundRect">
            <a:avLst>
              <a:gd name="adj" fmla="val 6501"/>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0  ›  96C38704…</a:t>
            </a:r>
            <a:endParaRPr lang="en-US" sz="900" dirty="0"/>
          </a:p>
        </p:txBody>
      </p:sp>
      <p:sp>
        <p:nvSpPr>
          <p:cNvPr id="11" name="Shape 8"/>
          <p:cNvSpPr/>
          <p:nvPr/>
        </p:nvSpPr>
        <p:spPr>
          <a:xfrm>
            <a:off x="804672" y="2624328"/>
            <a:ext cx="5106924" cy="9144"/>
          </a:xfrm>
          <a:prstGeom prst="rect">
            <a:avLst/>
          </a:prstGeom>
          <a:solidFill>
            <a:srgbClr val="343437"/>
          </a:solidFill>
          <a:ln/>
        </p:spPr>
      </p:sp>
      <p:pic>
        <p:nvPicPr>
          <p:cNvPr id="12" name="Image 1" descr="/Users/charlypupier/Documents/Hackathon XRPL/xrpl-lending/bonus/deck-source/shots/f1a-type.png">    </p:cNvPr>
          <p:cNvPicPr>
            <a:picLocks noChangeAspect="1"/>
          </p:cNvPicPr>
          <p:nvPr/>
        </p:nvPicPr>
        <p:blipFill>
          <a:blip r:embed="rId2"/>
          <a:stretch>
            <a:fillRect/>
          </a:stretch>
        </p:blipFill>
        <p:spPr>
          <a:xfrm>
            <a:off x="987552" y="2752344"/>
            <a:ext cx="4132567" cy="628229"/>
          </a:xfrm>
          <a:prstGeom prst="rect">
            <a:avLst/>
          </a:prstGeom>
        </p:spPr>
      </p:pic>
      <p:pic>
        <p:nvPicPr>
          <p:cNvPr id="13" name="Image 2" descr="/Users/charlypupier/Documents/Hackathon XRPL/xrpl-lending/bonus/deck-source/shots/f1a-status.png">    </p:cNvPr>
          <p:cNvPicPr>
            <a:picLocks noChangeAspect="1"/>
          </p:cNvPicPr>
          <p:nvPr/>
        </p:nvPicPr>
        <p:blipFill>
          <a:blip r:embed="rId3"/>
          <a:stretch>
            <a:fillRect/>
          </a:stretch>
        </p:blipFill>
        <p:spPr>
          <a:xfrm>
            <a:off x="987552" y="3380573"/>
            <a:ext cx="4741164" cy="700868"/>
          </a:xfrm>
          <a:prstGeom prst="rect">
            <a:avLst/>
          </a:prstGeom>
        </p:spPr>
      </p:pic>
      <p:sp>
        <p:nvSpPr>
          <p:cNvPr id="14" name="Shape 9"/>
          <p:cNvSpPr/>
          <p:nvPr/>
        </p:nvSpPr>
        <p:spPr>
          <a:xfrm>
            <a:off x="6277356" y="2240280"/>
            <a:ext cx="5106924" cy="1969176"/>
          </a:xfrm>
          <a:prstGeom prst="roundRect">
            <a:avLst>
              <a:gd name="adj" fmla="val 6501"/>
            </a:avLst>
          </a:prstGeom>
          <a:solidFill>
            <a:srgbClr val="000000"/>
          </a:solidFill>
          <a:ln w="9525">
            <a:solidFill>
              <a:srgbClr val="343437"/>
            </a:solidFill>
            <a:prstDash val="solid"/>
          </a:ln>
        </p:spPr>
      </p:sp>
      <p:sp>
        <p:nvSpPr>
          <p:cNvPr id="15" name="Shape 10"/>
          <p:cNvSpPr/>
          <p:nvPr/>
        </p:nvSpPr>
        <p:spPr>
          <a:xfrm>
            <a:off x="6496812" y="2382012"/>
            <a:ext cx="100584" cy="100584"/>
          </a:xfrm>
          <a:prstGeom prst="ellipse">
            <a:avLst/>
          </a:prstGeom>
          <a:solidFill>
            <a:srgbClr val="FF5F57"/>
          </a:solidFill>
          <a:ln/>
        </p:spPr>
      </p:sp>
      <p:sp>
        <p:nvSpPr>
          <p:cNvPr id="16" name="Shape 11"/>
          <p:cNvSpPr/>
          <p:nvPr/>
        </p:nvSpPr>
        <p:spPr>
          <a:xfrm>
            <a:off x="6679692" y="2382012"/>
            <a:ext cx="100584" cy="100584"/>
          </a:xfrm>
          <a:prstGeom prst="ellipse">
            <a:avLst/>
          </a:prstGeom>
          <a:solidFill>
            <a:srgbClr val="FEBC2E"/>
          </a:solidFill>
          <a:ln/>
        </p:spPr>
      </p:sp>
      <p:sp>
        <p:nvSpPr>
          <p:cNvPr id="17" name="Shape 12"/>
          <p:cNvSpPr/>
          <p:nvPr/>
        </p:nvSpPr>
        <p:spPr>
          <a:xfrm>
            <a:off x="6862572" y="2382012"/>
            <a:ext cx="100584" cy="100584"/>
          </a:xfrm>
          <a:prstGeom prst="ellipse">
            <a:avLst/>
          </a:prstGeom>
          <a:solidFill>
            <a:srgbClr val="28C840"/>
          </a:solidFill>
          <a:ln/>
        </p:spPr>
      </p:sp>
      <p:sp>
        <p:nvSpPr>
          <p:cNvPr id="18" name="Text 13"/>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262144  ›  EFAD383F…</a:t>
            </a:r>
            <a:endParaRPr lang="en-US" sz="900" dirty="0"/>
          </a:p>
        </p:txBody>
      </p:sp>
      <p:sp>
        <p:nvSpPr>
          <p:cNvPr id="19" name="Shape 14"/>
          <p:cNvSpPr/>
          <p:nvPr/>
        </p:nvSpPr>
        <p:spPr>
          <a:xfrm>
            <a:off x="6277356" y="2624328"/>
            <a:ext cx="5106924" cy="9144"/>
          </a:xfrm>
          <a:prstGeom prst="rect">
            <a:avLst/>
          </a:prstGeom>
          <a:solidFill>
            <a:srgbClr val="343437"/>
          </a:solidFill>
          <a:ln/>
        </p:spPr>
      </p:sp>
      <p:pic>
        <p:nvPicPr>
          <p:cNvPr id="20" name="Image 3" descr="/Users/charlypupier/Documents/Hackathon XRPL/xrpl-lending/bonus/deck-source/shots/f1b-type.png">    </p:cNvPr>
          <p:cNvPicPr>
            <a:picLocks noChangeAspect="1"/>
          </p:cNvPicPr>
          <p:nvPr/>
        </p:nvPicPr>
        <p:blipFill>
          <a:blip r:embed="rId4"/>
          <a:stretch>
            <a:fillRect/>
          </a:stretch>
        </p:blipFill>
        <p:spPr>
          <a:xfrm>
            <a:off x="6460236" y="2752344"/>
            <a:ext cx="3113659" cy="628229"/>
          </a:xfrm>
          <a:prstGeom prst="rect">
            <a:avLst/>
          </a:prstGeom>
        </p:spPr>
      </p:pic>
      <p:pic>
        <p:nvPicPr>
          <p:cNvPr id="21" name="Image 4" descr="/Users/charlypupier/Documents/Hackathon XRPL/xrpl-lending/bonus/deck-source/shots/f1b-flags.png">    </p:cNvPr>
          <p:cNvPicPr>
            <a:picLocks noChangeAspect="1"/>
          </p:cNvPicPr>
          <p:nvPr/>
        </p:nvPicPr>
        <p:blipFill>
          <a:blip r:embed="rId5"/>
          <a:stretch>
            <a:fillRect/>
          </a:stretch>
        </p:blipFill>
        <p:spPr>
          <a:xfrm>
            <a:off x="6460236" y="3380573"/>
            <a:ext cx="4741164" cy="557553"/>
          </a:xfrm>
          <a:prstGeom prst="rect">
            <a:avLst/>
          </a:prstGeom>
        </p:spPr>
      </p:pic>
      <p:sp>
        <p:nvSpPr>
          <p:cNvPr id="22" name="Text 15"/>
          <p:cNvSpPr txBox="1"/>
          <p:nvPr/>
        </p:nvSpPr>
        <p:spPr>
          <a:xfrm>
            <a:off x="804672"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no flag: tecEXPIRED.</a:t>
            </a:r>
            <a:endParaRPr lang="en-US" sz="1150" dirty="0"/>
          </a:p>
        </p:txBody>
      </p:sp>
      <p:sp>
        <p:nvSpPr>
          <p:cNvPr id="23" name="Text 16"/>
          <p:cNvSpPr txBox="1"/>
          <p:nvPr/>
        </p:nvSpPr>
        <p:spPr>
          <a:xfrm>
            <a:off x="6277356"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with tfLoanLatePayment: success.</a:t>
            </a:r>
            <a:endParaRPr lang="en-US" sz="1150" dirty="0"/>
          </a:p>
        </p:txBody>
      </p:sp>
      <p:sp>
        <p:nvSpPr>
          <p:cNvPr id="24" name="Shape 17"/>
          <p:cNvSpPr/>
          <p:nvPr/>
        </p:nvSpPr>
        <p:spPr>
          <a:xfrm>
            <a:off x="804672" y="4754880"/>
            <a:ext cx="10579608" cy="9144"/>
          </a:xfrm>
          <a:prstGeom prst="rect">
            <a:avLst/>
          </a:prstGeom>
          <a:solidFill>
            <a:srgbClr val="E2E5E8"/>
          </a:solidFill>
          <a:ln/>
        </p:spPr>
      </p:sp>
      <p:sp>
        <p:nvSpPr>
          <p:cNvPr id="25" name="Text 1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XLS-66, §3.11.4.2</a:t>
            </a:r>
            <a:endParaRPr lang="en-US" sz="1500" dirty="0"/>
          </a:p>
        </p:txBody>
      </p:sp>
      <p:sp>
        <p:nvSpPr>
          <p:cNvPr id="26" name="Text 1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the failure is defined (condition 11).</a:t>
            </a:r>
            <a:endParaRPr lang="en-US" sz="1500" dirty="0"/>
          </a:p>
        </p:txBody>
      </p:sp>
      <p:sp>
        <p:nvSpPr>
          <p:cNvPr id="27" name="Text 2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LoanPay reference</a:t>
            </a:r>
            <a:endParaRPr lang="en-US" sz="1500" dirty="0"/>
          </a:p>
        </p:txBody>
      </p:sp>
      <p:sp>
        <p:nvSpPr>
          <p:cNvPr id="28" name="Text 2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eight error codes listed on xrpl.org, tecEXPIRED is not one of them.</a:t>
            </a:r>
            <a:endParaRPr lang="en-US" sz="1500" dirty="0"/>
          </a:p>
        </p:txBody>
      </p:sp>
      <p:sp>
        <p:nvSpPr>
          <p:cNvPr id="29" name="Text 2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0" name="Text 2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tecEXPIRED in the LoanPay reference, flag named in the explorer.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8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First-loss capital: 0.5% of a defaulted loan</a:t>
            </a:r>
            <a:endParaRPr lang="en-US" sz="3200" dirty="0"/>
          </a:p>
        </p:txBody>
      </p:sp>
      <p:sp>
        <p:nvSpPr>
          <p:cNvPr id="5" name="Text 2"/>
          <p:cNvSpPr txBox="1"/>
          <p:nvPr/>
        </p:nvSpPr>
        <p:spPr>
          <a:xfrm>
            <a:off x="804672" y="169164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1 XRP</a:t>
            </a:r>
            <a:endParaRPr lang="en-US" sz="3600" dirty="0"/>
          </a:p>
        </p:txBody>
      </p:sp>
      <p:sp>
        <p:nvSpPr>
          <p:cNvPr id="6" name="Text 3"/>
          <p:cNvSpPr txBox="1"/>
          <p:nvPr/>
        </p:nvSpPr>
        <p:spPr>
          <a:xfrm>
            <a:off x="804672" y="234297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cover posted by the broker</a:t>
            </a:r>
            <a:endParaRPr lang="en-US" sz="1300" dirty="0"/>
          </a:p>
        </p:txBody>
      </p:sp>
      <p:sp>
        <p:nvSpPr>
          <p:cNvPr id="7" name="Text 4"/>
          <p:cNvSpPr txBox="1"/>
          <p:nvPr/>
        </p:nvSpPr>
        <p:spPr>
          <a:xfrm>
            <a:off x="804672" y="2697480"/>
            <a:ext cx="512064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0.02 XRP</a:t>
            </a:r>
            <a:endParaRPr lang="en-US" sz="3600" dirty="0"/>
          </a:p>
        </p:txBody>
      </p:sp>
      <p:sp>
        <p:nvSpPr>
          <p:cNvPr id="8" name="Text 5"/>
          <p:cNvSpPr txBox="1"/>
          <p:nvPr/>
        </p:nvSpPr>
        <p:spPr>
          <a:xfrm>
            <a:off x="804672" y="334881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taken from the cover at default</a:t>
            </a:r>
            <a:endParaRPr lang="en-US" sz="1300" dirty="0"/>
          </a:p>
        </p:txBody>
      </p:sp>
      <p:sp>
        <p:nvSpPr>
          <p:cNvPr id="9" name="Text 6"/>
          <p:cNvSpPr txBox="1"/>
          <p:nvPr/>
        </p:nvSpPr>
        <p:spPr>
          <a:xfrm>
            <a:off x="804672" y="370332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3.98 XRP</a:t>
            </a:r>
            <a:endParaRPr lang="en-US" sz="3600" dirty="0"/>
          </a:p>
        </p:txBody>
      </p:sp>
      <p:sp>
        <p:nvSpPr>
          <p:cNvPr id="10" name="Text 7"/>
          <p:cNvSpPr txBox="1"/>
          <p:nvPr/>
        </p:nvSpPr>
        <p:spPr>
          <a:xfrm>
            <a:off x="804672" y="435465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lost by the depositor, 79.6%</a:t>
            </a:r>
            <a:endParaRPr lang="en-US" sz="1300" dirty="0"/>
          </a:p>
        </p:txBody>
      </p:sp>
      <p:sp>
        <p:nvSpPr>
          <p:cNvPr id="11" name="Shape 8"/>
          <p:cNvSpPr/>
          <p:nvPr/>
        </p:nvSpPr>
        <p:spPr>
          <a:xfrm>
            <a:off x="804672" y="4754880"/>
            <a:ext cx="5394960" cy="9144"/>
          </a:xfrm>
          <a:prstGeom prst="rect">
            <a:avLst/>
          </a:prstGeom>
          <a:solidFill>
            <a:srgbClr val="E2E5E8"/>
          </a:solidFill>
          <a:ln/>
        </p:spPr>
      </p:sp>
      <p:sp>
        <p:nvSpPr>
          <p:cNvPr id="12" name="Text 9"/>
          <p:cNvSpPr txBox="1"/>
          <p:nvPr/>
        </p:nvSpPr>
        <p:spPr>
          <a:xfrm>
            <a:off x="804672" y="4901184"/>
            <a:ext cx="5669280" cy="228600"/>
          </a:xfrm>
          <a:prstGeom prst="rect">
            <a:avLst/>
          </a:prstGeom>
          <a:noFill/>
          <a:ln/>
        </p:spPr>
        <p:txBody>
          <a:bodyPr wrap="square" lIns="0" tIns="0" rIns="0" bIns="0" rtlCol="0" anchor="t"/>
          <a:lstStyle/>
          <a:p>
            <a:pPr algn="l" indent="0" marL="0">
              <a:buNone/>
            </a:pPr>
            <a:r>
              <a:rPr lang="en-US" sz="1050" dirty="0">
                <a:solidFill>
                  <a:srgbClr val="5F666E"/>
                </a:solidFill>
                <a:latin typeface="Menlo" pitchFamily="34" charset="0"/>
                <a:ea typeface="Menlo" pitchFamily="34" charset="-122"/>
                <a:cs typeface="Menlo" pitchFamily="34" charset="-120"/>
              </a:rPr>
              <a:t>4 XRP debt × CoverRateMinimum 10% × CoverRateLiquidation 5%</a:t>
            </a:r>
            <a:endParaRPr lang="en-US" sz="1050" dirty="0"/>
          </a:p>
        </p:txBody>
      </p:sp>
      <p:sp>
        <p:nvSpPr>
          <p:cNvPr id="13" name="Text 10"/>
          <p:cNvSpPr txBox="1"/>
          <p:nvPr/>
        </p:nvSpPr>
        <p:spPr>
          <a:xfrm>
            <a:off x="804672" y="5193792"/>
            <a:ext cx="5486400" cy="274320"/>
          </a:xfrm>
          <a:prstGeom prst="rect">
            <a:avLst/>
          </a:prstGeom>
          <a:noFill/>
          <a:ln/>
        </p:spPr>
        <p:txBody>
          <a:bodyPr wrap="square" lIns="0" tIns="0" rIns="0" bIns="0" rtlCol="0" anchor="t"/>
          <a:lstStyle/>
          <a:p>
            <a:pPr algn="l" indent="0" marL="0">
              <a:buNone/>
            </a:pPr>
            <a:r>
              <a:rPr lang="en-US" sz="1250" dirty="0">
                <a:solidFill>
                  <a:srgbClr val="8A9199"/>
                </a:solidFill>
                <a:latin typeface="Poppins" pitchFamily="34" charset="0"/>
                <a:ea typeface="Poppins" pitchFamily="34" charset="-122"/>
                <a:cs typeface="Poppins" pitchFamily="34" charset="-120"/>
              </a:rPr>
              <a:t>Same ratio on a 50 XRP loan: 0.25 XRP.</a:t>
            </a:r>
            <a:endParaRPr lang="en-US" sz="1250" dirty="0"/>
          </a:p>
        </p:txBody>
      </p:sp>
      <p:sp>
        <p:nvSpPr>
          <p:cNvPr id="14" name="Text 11"/>
          <p:cNvSpPr txBox="1"/>
          <p:nvPr/>
        </p:nvSpPr>
        <p:spPr>
          <a:xfrm>
            <a:off x="804672" y="5596128"/>
            <a:ext cx="5394960" cy="274320"/>
          </a:xfrm>
          <a:prstGeom prst="rect">
            <a:avLst/>
          </a:prstGeom>
          <a:noFill/>
          <a:ln/>
        </p:spPr>
        <p:txBody>
          <a:bodyPr wrap="square" lIns="0" tIns="0" rIns="0" bIns="0" rtlCol="0" anchor="t"/>
          <a:lstStyle/>
          <a:p>
            <a:pPr algn="l" indent="0" marL="0">
              <a:buNone/>
            </a:pPr>
            <a:r>
              <a:rPr lang="en-US" sz="1300" dirty="0">
                <a:solidFill>
                  <a:srgbClr val="006AFF"/>
                </a:solidFill>
                <a:latin typeface="Poppins Medium" pitchFamily="34" charset="0"/>
                <a:ea typeface="Poppins Medium" pitchFamily="34" charset="-122"/>
                <a:cs typeface="Poppins Medium" pitchFamily="34" charset="-120"/>
              </a:rPr>
              <a:t>Proposed fix</a:t>
            </a:r>
            <a:endParaRPr lang="en-US" sz="1300" dirty="0"/>
          </a:p>
        </p:txBody>
      </p:sp>
      <p:sp>
        <p:nvSpPr>
          <p:cNvPr id="15" name="Text 12"/>
          <p:cNvSpPr txBox="1"/>
          <p:nvPr/>
        </p:nvSpPr>
        <p:spPr>
          <a:xfrm>
            <a:off x="804672" y="5888736"/>
            <a:ext cx="5394960" cy="566928"/>
          </a:xfrm>
          <a:prstGeom prst="rect">
            <a:avLst/>
          </a:prstGeom>
          <a:noFill/>
          <a:ln/>
        </p:spPr>
        <p:txBody>
          <a:bodyPr wrap="square" lIns="0" tIns="0" rIns="0" bIns="0" rtlCol="0" anchor="t"/>
          <a:lstStyle/>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Show the share of a default the cover absorbs.</a:t>
            </a:r>
            <a:endParaRPr lang="en-US" sz="1300" dirty="0"/>
          </a:p>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A delay on LoanBrokerCoverWithdraw after a default.</a:t>
            </a:r>
            <a:endParaRPr lang="en-US" sz="1300" dirty="0"/>
          </a:p>
        </p:txBody>
      </p:sp>
      <p:sp>
        <p:nvSpPr>
          <p:cNvPr id="16" name="Shape 13"/>
          <p:cNvSpPr/>
          <p:nvPr/>
        </p:nvSpPr>
        <p:spPr>
          <a:xfrm>
            <a:off x="7086600" y="1554480"/>
            <a:ext cx="4297680" cy="2212848"/>
          </a:xfrm>
          <a:prstGeom prst="roundRect">
            <a:avLst>
              <a:gd name="adj" fmla="val 5785"/>
            </a:avLst>
          </a:prstGeom>
          <a:solidFill>
            <a:srgbClr val="000000"/>
          </a:solidFill>
          <a:ln w="9525">
            <a:solidFill>
              <a:srgbClr val="343437"/>
            </a:solidFill>
            <a:prstDash val="solid"/>
          </a:ln>
        </p:spPr>
      </p:sp>
      <p:sp>
        <p:nvSpPr>
          <p:cNvPr id="17" name="Shape 14"/>
          <p:cNvSpPr/>
          <p:nvPr/>
        </p:nvSpPr>
        <p:spPr>
          <a:xfrm>
            <a:off x="7306056" y="1696212"/>
            <a:ext cx="100584" cy="100584"/>
          </a:xfrm>
          <a:prstGeom prst="ellipse">
            <a:avLst/>
          </a:prstGeom>
          <a:solidFill>
            <a:srgbClr val="FF5F57"/>
          </a:solidFill>
          <a:ln/>
        </p:spPr>
      </p:sp>
      <p:sp>
        <p:nvSpPr>
          <p:cNvPr id="18" name="Shape 15"/>
          <p:cNvSpPr/>
          <p:nvPr/>
        </p:nvSpPr>
        <p:spPr>
          <a:xfrm>
            <a:off x="7488936" y="1696212"/>
            <a:ext cx="100584" cy="100584"/>
          </a:xfrm>
          <a:prstGeom prst="ellipse">
            <a:avLst/>
          </a:prstGeom>
          <a:solidFill>
            <a:srgbClr val="FEBC2E"/>
          </a:solidFill>
          <a:ln/>
        </p:spPr>
      </p:sp>
      <p:sp>
        <p:nvSpPr>
          <p:cNvPr id="19" name="Shape 16"/>
          <p:cNvSpPr/>
          <p:nvPr/>
        </p:nvSpPr>
        <p:spPr>
          <a:xfrm>
            <a:off x="7671816" y="1696212"/>
            <a:ext cx="100584" cy="100584"/>
          </a:xfrm>
          <a:prstGeom prst="ellipse">
            <a:avLst/>
          </a:prstGeom>
          <a:solidFill>
            <a:srgbClr val="28C840"/>
          </a:solidFill>
          <a:ln/>
        </p:spPr>
      </p:sp>
      <p:sp>
        <p:nvSpPr>
          <p:cNvPr id="20" name="Text 17"/>
          <p:cNvSpPr txBox="1"/>
          <p:nvPr/>
        </p:nvSpPr>
        <p:spPr>
          <a:xfrm>
            <a:off x="7982712" y="1554480"/>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tfLoanDefault  ›  923F7D61…</a:t>
            </a:r>
            <a:endParaRPr lang="en-US" sz="900" dirty="0"/>
          </a:p>
        </p:txBody>
      </p:sp>
      <p:sp>
        <p:nvSpPr>
          <p:cNvPr id="21" name="Shape 18"/>
          <p:cNvSpPr/>
          <p:nvPr/>
        </p:nvSpPr>
        <p:spPr>
          <a:xfrm>
            <a:off x="7086600" y="1938528"/>
            <a:ext cx="4297680" cy="9144"/>
          </a:xfrm>
          <a:prstGeom prst="rect">
            <a:avLst/>
          </a:prstGeom>
          <a:solidFill>
            <a:srgbClr val="343437"/>
          </a:solidFill>
          <a:ln/>
        </p:spPr>
      </p:sp>
      <p:pic>
        <p:nvPicPr>
          <p:cNvPr id="22" name="Image 1" descr="/Users/charlypupier/Documents/Hackathon XRPL/xrpl-lending/bonus/deck-source/shots/f3a-type.png">    </p:cNvPr>
          <p:cNvPicPr>
            <a:picLocks noChangeAspect="1"/>
          </p:cNvPicPr>
          <p:nvPr/>
        </p:nvPicPr>
        <p:blipFill>
          <a:blip r:embed="rId2"/>
          <a:stretch>
            <a:fillRect/>
          </a:stretch>
        </p:blipFill>
        <p:spPr>
          <a:xfrm>
            <a:off x="7269480" y="2066544"/>
            <a:ext cx="3324630" cy="521000"/>
          </a:xfrm>
          <a:prstGeom prst="rect">
            <a:avLst/>
          </a:prstGeom>
        </p:spPr>
      </p:pic>
      <p:pic>
        <p:nvPicPr>
          <p:cNvPr id="23" name="Image 2" descr="/Users/charlypupier/Documents/Hackathon XRPL/xrpl-lending/bonus/deck-source/shots/f3a-meta.png">    </p:cNvPr>
          <p:cNvPicPr>
            <a:picLocks noChangeAspect="1"/>
          </p:cNvPicPr>
          <p:nvPr/>
        </p:nvPicPr>
        <p:blipFill>
          <a:blip r:embed="rId3"/>
          <a:stretch>
            <a:fillRect/>
          </a:stretch>
        </p:blipFill>
        <p:spPr>
          <a:xfrm>
            <a:off x="7269480" y="2587544"/>
            <a:ext cx="3539542" cy="1051768"/>
          </a:xfrm>
          <a:prstGeom prst="rect">
            <a:avLst/>
          </a:prstGeom>
        </p:spPr>
      </p:pic>
      <p:sp>
        <p:nvSpPr>
          <p:cNvPr id="24" name="Text 19"/>
          <p:cNvSpPr txBox="1"/>
          <p:nvPr/>
        </p:nvSpPr>
        <p:spPr>
          <a:xfrm>
            <a:off x="7086600" y="3840480"/>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Default: 0.02 XRP taken from the broker's cover.</a:t>
            </a:r>
            <a:endParaRPr lang="en-US" sz="1150" dirty="0"/>
          </a:p>
        </p:txBody>
      </p:sp>
      <p:sp>
        <p:nvSpPr>
          <p:cNvPr id="25" name="Shape 20"/>
          <p:cNvSpPr/>
          <p:nvPr/>
        </p:nvSpPr>
        <p:spPr>
          <a:xfrm>
            <a:off x="7086600" y="4133088"/>
            <a:ext cx="4297680" cy="1771198"/>
          </a:xfrm>
          <a:prstGeom prst="roundRect">
            <a:avLst>
              <a:gd name="adj" fmla="val 7228"/>
            </a:avLst>
          </a:prstGeom>
          <a:solidFill>
            <a:srgbClr val="000000"/>
          </a:solidFill>
          <a:ln w="9525">
            <a:solidFill>
              <a:srgbClr val="343437"/>
            </a:solidFill>
            <a:prstDash val="solid"/>
          </a:ln>
        </p:spPr>
      </p:sp>
      <p:sp>
        <p:nvSpPr>
          <p:cNvPr id="26" name="Shape 21"/>
          <p:cNvSpPr/>
          <p:nvPr/>
        </p:nvSpPr>
        <p:spPr>
          <a:xfrm>
            <a:off x="7306056" y="4274820"/>
            <a:ext cx="100584" cy="100584"/>
          </a:xfrm>
          <a:prstGeom prst="ellipse">
            <a:avLst/>
          </a:prstGeom>
          <a:solidFill>
            <a:srgbClr val="FF5F57"/>
          </a:solidFill>
          <a:ln/>
        </p:spPr>
      </p:sp>
      <p:sp>
        <p:nvSpPr>
          <p:cNvPr id="27" name="Shape 22"/>
          <p:cNvSpPr/>
          <p:nvPr/>
        </p:nvSpPr>
        <p:spPr>
          <a:xfrm>
            <a:off x="7488936" y="4274820"/>
            <a:ext cx="100584" cy="100584"/>
          </a:xfrm>
          <a:prstGeom prst="ellipse">
            <a:avLst/>
          </a:prstGeom>
          <a:solidFill>
            <a:srgbClr val="FEBC2E"/>
          </a:solidFill>
          <a:ln/>
        </p:spPr>
      </p:sp>
      <p:sp>
        <p:nvSpPr>
          <p:cNvPr id="28" name="Shape 23"/>
          <p:cNvSpPr/>
          <p:nvPr/>
        </p:nvSpPr>
        <p:spPr>
          <a:xfrm>
            <a:off x="7671816" y="4274820"/>
            <a:ext cx="100584" cy="100584"/>
          </a:xfrm>
          <a:prstGeom prst="ellipse">
            <a:avLst/>
          </a:prstGeom>
          <a:solidFill>
            <a:srgbClr val="28C840"/>
          </a:solidFill>
          <a:ln/>
        </p:spPr>
      </p:sp>
      <p:sp>
        <p:nvSpPr>
          <p:cNvPr id="29" name="Text 24"/>
          <p:cNvSpPr txBox="1"/>
          <p:nvPr/>
        </p:nvSpPr>
        <p:spPr>
          <a:xfrm>
            <a:off x="7982712" y="4133088"/>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21 s after the default  ›  68DD97D9…</a:t>
            </a:r>
            <a:endParaRPr lang="en-US" sz="900" dirty="0"/>
          </a:p>
        </p:txBody>
      </p:sp>
      <p:sp>
        <p:nvSpPr>
          <p:cNvPr id="30" name="Shape 25"/>
          <p:cNvSpPr/>
          <p:nvPr/>
        </p:nvSpPr>
        <p:spPr>
          <a:xfrm>
            <a:off x="7086600" y="4517136"/>
            <a:ext cx="4297680" cy="9144"/>
          </a:xfrm>
          <a:prstGeom prst="rect">
            <a:avLst/>
          </a:prstGeom>
          <a:solidFill>
            <a:srgbClr val="343437"/>
          </a:solidFill>
          <a:ln/>
        </p:spPr>
      </p:sp>
      <p:pic>
        <p:nvPicPr>
          <p:cNvPr id="31" name="Image 3" descr="/Users/charlypupier/Documents/Hackathon XRPL/xrpl-lending/bonus/deck-source/shots/f3b-type.png">    </p:cNvPr>
          <p:cNvPicPr>
            <a:picLocks noChangeAspect="1"/>
          </p:cNvPicPr>
          <p:nvPr/>
        </p:nvPicPr>
        <p:blipFill>
          <a:blip r:embed="rId4"/>
          <a:stretch>
            <a:fillRect/>
          </a:stretch>
        </p:blipFill>
        <p:spPr>
          <a:xfrm>
            <a:off x="7269480" y="4645152"/>
            <a:ext cx="3931920" cy="685012"/>
          </a:xfrm>
          <a:prstGeom prst="rect">
            <a:avLst/>
          </a:prstGeom>
        </p:spPr>
      </p:pic>
      <p:pic>
        <p:nvPicPr>
          <p:cNvPr id="32" name="Image 4" descr="/Users/charlypupier/Documents/Hackathon XRPL/xrpl-lending/bonus/deck-source/shots/f3b-amount.png">    </p:cNvPr>
          <p:cNvPicPr>
            <a:picLocks noChangeAspect="1"/>
          </p:cNvPicPr>
          <p:nvPr/>
        </p:nvPicPr>
        <p:blipFill>
          <a:blip r:embed="rId5"/>
          <a:stretch>
            <a:fillRect/>
          </a:stretch>
        </p:blipFill>
        <p:spPr>
          <a:xfrm>
            <a:off x="7269480" y="5330164"/>
            <a:ext cx="3795158" cy="223053"/>
          </a:xfrm>
          <a:prstGeom prst="rect">
            <a:avLst/>
          </a:prstGeom>
        </p:spPr>
      </p:pic>
      <p:pic>
        <p:nvPicPr>
          <p:cNvPr id="33" name="Image 5" descr="/Users/charlypupier/Documents/Hackathon XRPL/xrpl-lending/bonus/deck-source/shots/f3b-date.png">    </p:cNvPr>
          <p:cNvPicPr>
            <a:picLocks noChangeAspect="1"/>
          </p:cNvPicPr>
          <p:nvPr/>
        </p:nvPicPr>
        <p:blipFill>
          <a:blip r:embed="rId6"/>
          <a:stretch>
            <a:fillRect/>
          </a:stretch>
        </p:blipFill>
        <p:spPr>
          <a:xfrm>
            <a:off x="7269480" y="5553217"/>
            <a:ext cx="3795158" cy="223053"/>
          </a:xfrm>
          <a:prstGeom prst="rect">
            <a:avLst/>
          </a:prstGeom>
        </p:spPr>
      </p:pic>
      <p:sp>
        <p:nvSpPr>
          <p:cNvPr id="34" name="Text 26"/>
          <p:cNvSpPr txBox="1"/>
          <p:nvPr/>
        </p:nvSpPr>
        <p:spPr>
          <a:xfrm>
            <a:off x="7086600" y="5977438"/>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21 s later, the broker withdraws the remaining cover.</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9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Six more findings</a:t>
            </a:r>
            <a:endParaRPr lang="en-US" sz="3200" dirty="0"/>
          </a:p>
        </p:txBody>
      </p:sp>
      <p:sp>
        <p:nvSpPr>
          <p:cNvPr id="5" name="Shape 2"/>
          <p:cNvSpPr/>
          <p:nvPr/>
        </p:nvSpPr>
        <p:spPr>
          <a:xfrm>
            <a:off x="804672" y="1783080"/>
            <a:ext cx="5015484" cy="9144"/>
          </a:xfrm>
          <a:prstGeom prst="rect">
            <a:avLst/>
          </a:prstGeom>
          <a:solidFill>
            <a:srgbClr val="E2E5E8"/>
          </a:solidFill>
          <a:ln/>
        </p:spPr>
      </p:sp>
      <p:sp>
        <p:nvSpPr>
          <p:cNvPr id="6" name="Shape 3"/>
          <p:cNvSpPr/>
          <p:nvPr/>
        </p:nvSpPr>
        <p:spPr>
          <a:xfrm>
            <a:off x="804672" y="2020824"/>
            <a:ext cx="310896" cy="310896"/>
          </a:xfrm>
          <a:prstGeom prst="ellipse">
            <a:avLst/>
          </a:prstGeom>
          <a:solidFill>
            <a:srgbClr val="001C5C"/>
          </a:solidFill>
          <a:ln/>
        </p:spPr>
      </p:sp>
      <p:sp>
        <p:nvSpPr>
          <p:cNvPr id="7" name="Text 4"/>
          <p:cNvSpPr txBox="1"/>
          <p:nvPr/>
        </p:nvSpPr>
        <p:spPr>
          <a:xfrm>
            <a:off x="804672"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4</a:t>
            </a:r>
            <a:endParaRPr lang="en-US" sz="1100" dirty="0"/>
          </a:p>
        </p:txBody>
      </p:sp>
      <p:sp>
        <p:nvSpPr>
          <p:cNvPr id="8" name="Text 5"/>
          <p:cNvSpPr txBox="1"/>
          <p:nvPr/>
        </p:nvSpPr>
        <p:spPr>
          <a:xfrm>
            <a:off x="1280160"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Sole-holder exception missing from xrpl.org</a:t>
            </a:r>
            <a:endParaRPr lang="en-US" sz="1400" dirty="0"/>
          </a:p>
        </p:txBody>
      </p:sp>
      <p:sp>
        <p:nvSpPr>
          <p:cNvPr id="9" name="Shape 6"/>
          <p:cNvSpPr/>
          <p:nvPr/>
        </p:nvSpPr>
        <p:spPr>
          <a:xfrm>
            <a:off x="1280160" y="2441448"/>
            <a:ext cx="1362456" cy="292608"/>
          </a:xfrm>
          <a:prstGeom prst="roundRect">
            <a:avLst>
              <a:gd name="adj" fmla="val 50000"/>
            </a:avLst>
          </a:prstGeom>
          <a:solidFill>
            <a:srgbClr val="EBF4FF"/>
          </a:solidFill>
          <a:ln/>
        </p:spPr>
      </p:sp>
      <p:sp>
        <p:nvSpPr>
          <p:cNvPr id="10" name="Text 7"/>
          <p:cNvSpPr txBox="1"/>
          <p:nvPr/>
        </p:nvSpPr>
        <p:spPr>
          <a:xfrm>
            <a:off x="1280160" y="2441448"/>
            <a:ext cx="136245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LossUnrealized</a:t>
            </a:r>
            <a:endParaRPr lang="en-US" sz="900" dirty="0"/>
          </a:p>
        </p:txBody>
      </p:sp>
      <p:sp>
        <p:nvSpPr>
          <p:cNvPr id="11" name="Shape 8"/>
          <p:cNvSpPr/>
          <p:nvPr/>
        </p:nvSpPr>
        <p:spPr>
          <a:xfrm>
            <a:off x="6368796" y="1783080"/>
            <a:ext cx="5015484" cy="9144"/>
          </a:xfrm>
          <a:prstGeom prst="rect">
            <a:avLst/>
          </a:prstGeom>
          <a:solidFill>
            <a:srgbClr val="E2E5E8"/>
          </a:solidFill>
          <a:ln/>
        </p:spPr>
      </p:sp>
      <p:sp>
        <p:nvSpPr>
          <p:cNvPr id="12" name="Shape 9"/>
          <p:cNvSpPr/>
          <p:nvPr/>
        </p:nvSpPr>
        <p:spPr>
          <a:xfrm>
            <a:off x="6368796" y="2020824"/>
            <a:ext cx="310896" cy="310896"/>
          </a:xfrm>
          <a:prstGeom prst="ellipse">
            <a:avLst/>
          </a:prstGeom>
          <a:solidFill>
            <a:srgbClr val="001C5C"/>
          </a:solidFill>
          <a:ln/>
        </p:spPr>
      </p:sp>
      <p:sp>
        <p:nvSpPr>
          <p:cNvPr id="13" name="Text 10"/>
          <p:cNvSpPr txBox="1"/>
          <p:nvPr/>
        </p:nvSpPr>
        <p:spPr>
          <a:xfrm>
            <a:off x="6368796"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5</a:t>
            </a:r>
            <a:endParaRPr lang="en-US" sz="1100" dirty="0"/>
          </a:p>
        </p:txBody>
      </p:sp>
      <p:sp>
        <p:nvSpPr>
          <p:cNvPr id="14" name="Text 11"/>
          <p:cNvSpPr txBox="1"/>
          <p:nvPr/>
        </p:nvSpPr>
        <p:spPr>
          <a:xfrm>
            <a:off x="6844284"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loan_info or loan_broker_info</a:t>
            </a:r>
            <a:endParaRPr lang="en-US" sz="1400" dirty="0"/>
          </a:p>
        </p:txBody>
      </p:sp>
      <p:sp>
        <p:nvSpPr>
          <p:cNvPr id="15" name="Shape 12"/>
          <p:cNvSpPr/>
          <p:nvPr/>
        </p:nvSpPr>
        <p:spPr>
          <a:xfrm>
            <a:off x="6844284" y="2441448"/>
            <a:ext cx="1088136" cy="292608"/>
          </a:xfrm>
          <a:prstGeom prst="roundRect">
            <a:avLst>
              <a:gd name="adj" fmla="val 50000"/>
            </a:avLst>
          </a:prstGeom>
          <a:solidFill>
            <a:srgbClr val="EBF4FF"/>
          </a:solidFill>
          <a:ln/>
        </p:spPr>
      </p:sp>
      <p:sp>
        <p:nvSpPr>
          <p:cNvPr id="16" name="Text 13"/>
          <p:cNvSpPr txBox="1"/>
          <p:nvPr/>
        </p:nvSpPr>
        <p:spPr>
          <a:xfrm>
            <a:off x="6844284" y="244144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unknownCmd</a:t>
            </a:r>
            <a:endParaRPr lang="en-US" sz="900" dirty="0"/>
          </a:p>
        </p:txBody>
      </p:sp>
      <p:sp>
        <p:nvSpPr>
          <p:cNvPr id="17" name="Shape 14"/>
          <p:cNvSpPr/>
          <p:nvPr/>
        </p:nvSpPr>
        <p:spPr>
          <a:xfrm>
            <a:off x="804672" y="2880360"/>
            <a:ext cx="5015484" cy="9144"/>
          </a:xfrm>
          <a:prstGeom prst="rect">
            <a:avLst/>
          </a:prstGeom>
          <a:solidFill>
            <a:srgbClr val="E2E5E8"/>
          </a:solidFill>
          <a:ln/>
        </p:spPr>
      </p:sp>
      <p:sp>
        <p:nvSpPr>
          <p:cNvPr id="18" name="Shape 15"/>
          <p:cNvSpPr/>
          <p:nvPr/>
        </p:nvSpPr>
        <p:spPr>
          <a:xfrm>
            <a:off x="804672" y="3118104"/>
            <a:ext cx="310896" cy="310896"/>
          </a:xfrm>
          <a:prstGeom prst="ellipse">
            <a:avLst/>
          </a:prstGeom>
          <a:solidFill>
            <a:srgbClr val="001C5C"/>
          </a:solidFill>
          <a:ln/>
        </p:spPr>
      </p:sp>
      <p:sp>
        <p:nvSpPr>
          <p:cNvPr id="19" name="Text 16"/>
          <p:cNvSpPr txBox="1"/>
          <p:nvPr/>
        </p:nvSpPr>
        <p:spPr>
          <a:xfrm>
            <a:off x="804672"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6</a:t>
            </a:r>
            <a:endParaRPr lang="en-US" sz="1100" dirty="0"/>
          </a:p>
        </p:txBody>
      </p:sp>
      <p:sp>
        <p:nvSpPr>
          <p:cNvPr id="20" name="Text 17"/>
          <p:cNvSpPr txBox="1"/>
          <p:nvPr/>
        </p:nvSpPr>
        <p:spPr>
          <a:xfrm>
            <a:off x="1280160"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Four codes, two or three causes each</a:t>
            </a:r>
            <a:endParaRPr lang="en-US" sz="1400" dirty="0"/>
          </a:p>
        </p:txBody>
      </p:sp>
      <p:sp>
        <p:nvSpPr>
          <p:cNvPr id="21" name="Shape 18"/>
          <p:cNvSpPr/>
          <p:nvPr/>
        </p:nvSpPr>
        <p:spPr>
          <a:xfrm>
            <a:off x="1280160" y="3538728"/>
            <a:ext cx="1842516" cy="292608"/>
          </a:xfrm>
          <a:prstGeom prst="roundRect">
            <a:avLst>
              <a:gd name="adj" fmla="val 50000"/>
            </a:avLst>
          </a:prstGeom>
          <a:solidFill>
            <a:srgbClr val="EBF4FF"/>
          </a:solidFill>
          <a:ln/>
        </p:spPr>
      </p:sp>
      <p:sp>
        <p:nvSpPr>
          <p:cNvPr id="22" name="Text 19"/>
          <p:cNvSpPr txBox="1"/>
          <p:nvPr/>
        </p:nvSpPr>
        <p:spPr>
          <a:xfrm>
            <a:off x="1280160" y="3538728"/>
            <a:ext cx="18425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tecINSUFFICIENT_FUNDS</a:t>
            </a:r>
            <a:endParaRPr lang="en-US" sz="900" dirty="0"/>
          </a:p>
        </p:txBody>
      </p:sp>
      <p:sp>
        <p:nvSpPr>
          <p:cNvPr id="23" name="Shape 20"/>
          <p:cNvSpPr/>
          <p:nvPr/>
        </p:nvSpPr>
        <p:spPr>
          <a:xfrm>
            <a:off x="6368796" y="2880360"/>
            <a:ext cx="5015484" cy="9144"/>
          </a:xfrm>
          <a:prstGeom prst="rect">
            <a:avLst/>
          </a:prstGeom>
          <a:solidFill>
            <a:srgbClr val="E2E5E8"/>
          </a:solidFill>
          <a:ln/>
        </p:spPr>
      </p:sp>
      <p:sp>
        <p:nvSpPr>
          <p:cNvPr id="24" name="Shape 21"/>
          <p:cNvSpPr/>
          <p:nvPr/>
        </p:nvSpPr>
        <p:spPr>
          <a:xfrm>
            <a:off x="6368796" y="3118104"/>
            <a:ext cx="310896" cy="310896"/>
          </a:xfrm>
          <a:prstGeom prst="ellipse">
            <a:avLst/>
          </a:prstGeom>
          <a:solidFill>
            <a:srgbClr val="001C5C"/>
          </a:solidFill>
          <a:ln/>
        </p:spPr>
      </p:sp>
      <p:sp>
        <p:nvSpPr>
          <p:cNvPr id="25" name="Text 22"/>
          <p:cNvSpPr txBox="1"/>
          <p:nvPr/>
        </p:nvSpPr>
        <p:spPr>
          <a:xfrm>
            <a:off x="6368796"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26" name="Text 23"/>
          <p:cNvSpPr txBox="1"/>
          <p:nvPr/>
        </p:nvSpPr>
        <p:spPr>
          <a:xfrm>
            <a:off x="6844284"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V1.1 LoanBrokerSet restriction reverted</a:t>
            </a:r>
            <a:endParaRPr lang="en-US" sz="1400" dirty="0"/>
          </a:p>
        </p:txBody>
      </p:sp>
      <p:sp>
        <p:nvSpPr>
          <p:cNvPr id="27" name="Shape 24"/>
          <p:cNvSpPr/>
          <p:nvPr/>
        </p:nvSpPr>
        <p:spPr>
          <a:xfrm>
            <a:off x="6844284" y="3538728"/>
            <a:ext cx="1088136" cy="292608"/>
          </a:xfrm>
          <a:prstGeom prst="roundRect">
            <a:avLst>
              <a:gd name="adj" fmla="val 50000"/>
            </a:avLst>
          </a:prstGeom>
          <a:solidFill>
            <a:srgbClr val="EBF4FF"/>
          </a:solidFill>
          <a:ln/>
        </p:spPr>
      </p:sp>
      <p:sp>
        <p:nvSpPr>
          <p:cNvPr id="28" name="Text 25"/>
          <p:cNvSpPr txBox="1"/>
          <p:nvPr/>
        </p:nvSpPr>
        <p:spPr>
          <a:xfrm>
            <a:off x="6844284" y="353872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tesSUCCESS</a:t>
            </a:r>
            <a:endParaRPr lang="en-US" sz="900" dirty="0"/>
          </a:p>
        </p:txBody>
      </p:sp>
      <p:sp>
        <p:nvSpPr>
          <p:cNvPr id="29" name="Shape 26"/>
          <p:cNvSpPr/>
          <p:nvPr/>
        </p:nvSpPr>
        <p:spPr>
          <a:xfrm>
            <a:off x="804672" y="3977640"/>
            <a:ext cx="5015484" cy="9144"/>
          </a:xfrm>
          <a:prstGeom prst="rect">
            <a:avLst/>
          </a:prstGeom>
          <a:solidFill>
            <a:srgbClr val="E2E5E8"/>
          </a:solidFill>
          <a:ln/>
        </p:spPr>
      </p:sp>
      <p:sp>
        <p:nvSpPr>
          <p:cNvPr id="30" name="Shape 27"/>
          <p:cNvSpPr/>
          <p:nvPr/>
        </p:nvSpPr>
        <p:spPr>
          <a:xfrm>
            <a:off x="804672" y="4215384"/>
            <a:ext cx="310896" cy="310896"/>
          </a:xfrm>
          <a:prstGeom prst="ellipse">
            <a:avLst/>
          </a:prstGeom>
          <a:solidFill>
            <a:srgbClr val="001C5C"/>
          </a:solidFill>
          <a:ln/>
        </p:spPr>
      </p:sp>
      <p:sp>
        <p:nvSpPr>
          <p:cNvPr id="31" name="Text 28"/>
          <p:cNvSpPr txBox="1"/>
          <p:nvPr/>
        </p:nvSpPr>
        <p:spPr>
          <a:xfrm>
            <a:off x="804672"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8</a:t>
            </a:r>
            <a:endParaRPr lang="en-US" sz="1100" dirty="0"/>
          </a:p>
        </p:txBody>
      </p:sp>
      <p:sp>
        <p:nvSpPr>
          <p:cNvPr id="32" name="Text 29"/>
          <p:cNvSpPr txBox="1"/>
          <p:nvPr/>
        </p:nvSpPr>
        <p:spPr>
          <a:xfrm>
            <a:off x="1280160"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Shares carry lsfMPTCanTrade, OfferCreate refused</a:t>
            </a:r>
            <a:endParaRPr lang="en-US" sz="1400" dirty="0"/>
          </a:p>
        </p:txBody>
      </p:sp>
      <p:sp>
        <p:nvSpPr>
          <p:cNvPr id="33" name="Shape 30"/>
          <p:cNvSpPr/>
          <p:nvPr/>
        </p:nvSpPr>
        <p:spPr>
          <a:xfrm>
            <a:off x="1280160" y="4636008"/>
            <a:ext cx="1156716" cy="292608"/>
          </a:xfrm>
          <a:prstGeom prst="roundRect">
            <a:avLst>
              <a:gd name="adj" fmla="val 50000"/>
            </a:avLst>
          </a:prstGeom>
          <a:solidFill>
            <a:srgbClr val="EBF4FF"/>
          </a:solidFill>
          <a:ln/>
        </p:spPr>
      </p:sp>
      <p:sp>
        <p:nvSpPr>
          <p:cNvPr id="34" name="Text 31"/>
          <p:cNvSpPr txBox="1"/>
          <p:nvPr/>
        </p:nvSpPr>
        <p:spPr>
          <a:xfrm>
            <a:off x="1280160" y="4636008"/>
            <a:ext cx="11567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temDISABLED</a:t>
            </a:r>
            <a:endParaRPr lang="en-US" sz="900" dirty="0"/>
          </a:p>
        </p:txBody>
      </p:sp>
      <p:sp>
        <p:nvSpPr>
          <p:cNvPr id="35" name="Shape 32"/>
          <p:cNvSpPr/>
          <p:nvPr/>
        </p:nvSpPr>
        <p:spPr>
          <a:xfrm>
            <a:off x="6368796" y="3977640"/>
            <a:ext cx="5015484" cy="9144"/>
          </a:xfrm>
          <a:prstGeom prst="rect">
            <a:avLst/>
          </a:prstGeom>
          <a:solidFill>
            <a:srgbClr val="E2E5E8"/>
          </a:solidFill>
          <a:ln/>
        </p:spPr>
      </p:sp>
      <p:sp>
        <p:nvSpPr>
          <p:cNvPr id="36" name="Shape 33"/>
          <p:cNvSpPr/>
          <p:nvPr/>
        </p:nvSpPr>
        <p:spPr>
          <a:xfrm>
            <a:off x="6368796" y="4215384"/>
            <a:ext cx="310896" cy="310896"/>
          </a:xfrm>
          <a:prstGeom prst="ellipse">
            <a:avLst/>
          </a:prstGeom>
          <a:solidFill>
            <a:srgbClr val="001C5C"/>
          </a:solidFill>
          <a:ln/>
        </p:spPr>
      </p:sp>
      <p:sp>
        <p:nvSpPr>
          <p:cNvPr id="37" name="Text 34"/>
          <p:cNvSpPr txBox="1"/>
          <p:nvPr/>
        </p:nvSpPr>
        <p:spPr>
          <a:xfrm>
            <a:off x="6368796"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9</a:t>
            </a:r>
            <a:endParaRPr lang="en-US" sz="1100" dirty="0"/>
          </a:p>
        </p:txBody>
      </p:sp>
      <p:sp>
        <p:nvSpPr>
          <p:cNvPr id="38" name="Text 35"/>
          <p:cNvSpPr txBox="1"/>
          <p:nvPr/>
        </p:nvSpPr>
        <p:spPr>
          <a:xfrm>
            <a:off x="6844284"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flag closes a vault to deposits</a:t>
            </a:r>
            <a:endParaRPr lang="en-US" sz="1400" dirty="0"/>
          </a:p>
        </p:txBody>
      </p:sp>
      <p:sp>
        <p:nvSpPr>
          <p:cNvPr id="39" name="Shape 36"/>
          <p:cNvSpPr/>
          <p:nvPr/>
        </p:nvSpPr>
        <p:spPr>
          <a:xfrm>
            <a:off x="6844284" y="4636008"/>
            <a:ext cx="1568196" cy="292608"/>
          </a:xfrm>
          <a:prstGeom prst="roundRect">
            <a:avLst>
              <a:gd name="adj" fmla="val 50000"/>
            </a:avLst>
          </a:prstGeom>
          <a:solidFill>
            <a:srgbClr val="EBF4FF"/>
          </a:solidFill>
          <a:ln/>
        </p:spPr>
      </p:sp>
      <p:sp>
        <p:nvSpPr>
          <p:cNvPr id="40" name="Text 37"/>
          <p:cNvSpPr txBox="1"/>
          <p:nvPr/>
        </p:nvSpPr>
        <p:spPr>
          <a:xfrm>
            <a:off x="6844284" y="4636008"/>
            <a:ext cx="156819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tecLIMIT_EXCEEDED</a:t>
            </a:r>
            <a:endParaRPr lang="en-US" sz="900" dirty="0"/>
          </a:p>
        </p:txBody>
      </p:sp>
      <p:sp>
        <p:nvSpPr>
          <p:cNvPr id="41" name="Text 38"/>
          <p:cNvSpPr txBox="1"/>
          <p:nvPr/>
        </p:nvSpPr>
        <p:spPr>
          <a:xfrm>
            <a:off x="1280160" y="5349240"/>
            <a:ext cx="10104120" cy="548640"/>
          </a:xfrm>
          <a:prstGeom prst="rect">
            <a:avLst/>
          </a:prstGeom>
          <a:noFill/>
          <a:ln/>
        </p:spPr>
        <p:txBody>
          <a:bodyPr wrap="square" lIns="0" tIns="0" rIns="0" bIns="0" rtlCol="0" anchor="t"/>
          <a:lstStyle/>
          <a:p>
            <a:pPr algn="l" indent="0" marL="0">
              <a:buNone/>
            </a:pPr>
            <a:r>
              <a:rPr lang="en-US" sz="1300" dirty="0">
                <a:solidFill>
                  <a:srgbClr val="5F666E"/>
                </a:solidFill>
                <a:latin typeface="Poppins Light" pitchFamily="34" charset="0"/>
                <a:ea typeface="Poppins Light" pitchFamily="34" charset="-122"/>
                <a:cs typeface="Poppins Light" pitchFamily="34" charset="-120"/>
              </a:rPr>
              <a:t>Category, severity, repro steps and proposed fix for each in the report.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10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FFFFFF"/>
                </a:solidFill>
                <a:latin typeface="Poppins" pitchFamily="34" charset="0"/>
                <a:ea typeface="Poppins" pitchFamily="34" charset="-122"/>
                <a:cs typeface="Poppins" pitchFamily="34" charset="-120"/>
              </a:rPr>
              <a:t>Nine findings, three pages</a:t>
            </a:r>
            <a:endParaRPr lang="en-US" sz="3200" dirty="0"/>
          </a:p>
        </p:txBody>
      </p:sp>
      <p:sp>
        <p:nvSpPr>
          <p:cNvPr id="5" name="Text 2"/>
          <p:cNvSpPr txBox="1"/>
          <p:nvPr/>
        </p:nvSpPr>
        <p:spPr>
          <a:xfrm>
            <a:off x="768096" y="1965960"/>
            <a:ext cx="7315200" cy="1143000"/>
          </a:xfrm>
          <a:prstGeom prst="rect">
            <a:avLst/>
          </a:prstGeom>
          <a:noFill/>
          <a:ln/>
        </p:spPr>
        <p:txBody>
          <a:bodyPr wrap="square" lIns="0" tIns="0" rIns="0" bIns="0" rtlCol="0" anchor="t"/>
          <a:lstStyle/>
          <a:p>
            <a:pPr algn="l" indent="0" marL="0">
              <a:buNone/>
            </a:pPr>
            <a:r>
              <a:rPr lang="en-US" sz="7600" b="1" dirty="0">
                <a:solidFill>
                  <a:srgbClr val="6DC3FF"/>
                </a:solidFill>
                <a:latin typeface="Poppins" pitchFamily="34" charset="0"/>
                <a:ea typeface="Poppins" pitchFamily="34" charset="-122"/>
                <a:cs typeface="Poppins" pitchFamily="34" charset="-120"/>
              </a:rPr>
              <a:t>143 / 143</a:t>
            </a:r>
            <a:endParaRPr lang="en-US" sz="7600" dirty="0"/>
          </a:p>
        </p:txBody>
      </p:sp>
      <p:sp>
        <p:nvSpPr>
          <p:cNvPr id="6" name="Text 3"/>
          <p:cNvSpPr txBox="1"/>
          <p:nvPr/>
        </p:nvSpPr>
        <p:spPr>
          <a:xfrm>
            <a:off x="804672" y="3200400"/>
            <a:ext cx="10579608" cy="365760"/>
          </a:xfrm>
          <a:prstGeom prst="rect">
            <a:avLst/>
          </a:prstGeom>
          <a:noFill/>
          <a:ln/>
        </p:spPr>
        <p:txBody>
          <a:bodyPr wrap="square" lIns="0" tIns="0" rIns="0" bIns="0" rtlCol="0" anchor="t"/>
          <a:lstStyle/>
          <a:p>
            <a:pPr algn="l" indent="0" marL="0">
              <a:buNone/>
            </a:pPr>
            <a:r>
              <a:rPr lang="en-US" sz="1900" dirty="0">
                <a:solidFill>
                  <a:srgbClr val="C9D4E8"/>
                </a:solidFill>
                <a:latin typeface="Poppins Light" pitchFamily="34" charset="0"/>
                <a:ea typeface="Poppins Light" pitchFamily="34" charset="-122"/>
                <a:cs typeface="Poppins Light" pitchFamily="34" charset="-120"/>
              </a:rPr>
              <a:t>hashes cited, re-checked on the ledger before submission</a:t>
            </a:r>
            <a:endParaRPr lang="en-US" sz="1900" dirty="0"/>
          </a:p>
        </p:txBody>
      </p:sp>
      <p:sp>
        <p:nvSpPr>
          <p:cNvPr id="7" name="Shape 4"/>
          <p:cNvSpPr/>
          <p:nvPr/>
        </p:nvSpPr>
        <p:spPr>
          <a:xfrm>
            <a:off x="804672" y="4206240"/>
            <a:ext cx="10579608" cy="9144"/>
          </a:xfrm>
          <a:prstGeom prst="rect">
            <a:avLst/>
          </a:prstGeom>
          <a:solidFill>
            <a:srgbClr val="1C3D85"/>
          </a:solidFill>
          <a:ln/>
        </p:spPr>
      </p:sp>
      <p:sp>
        <p:nvSpPr>
          <p:cNvPr id="8" name="Text 5"/>
          <p:cNvSpPr txBox="1"/>
          <p:nvPr/>
        </p:nvSpPr>
        <p:spPr>
          <a:xfrm>
            <a:off x="804672" y="4480560"/>
            <a:ext cx="10579608" cy="411480"/>
          </a:xfrm>
          <a:prstGeom prst="rect">
            <a:avLst/>
          </a:prstGeom>
          <a:noFill/>
          <a:ln/>
        </p:spPr>
        <p:txBody>
          <a:bodyPr wrap="square" lIns="0" tIns="0" rIns="0" bIns="0" rtlCol="0" anchor="t"/>
          <a:lstStyle/>
          <a:p>
            <a:pPr algn="l" indent="0" marL="0">
              <a:buNone/>
            </a:pPr>
            <a:r>
              <a:rPr lang="en-US" sz="2100" dirty="0">
                <a:solidFill>
                  <a:srgbClr val="FFFFFF"/>
                </a:solidFill>
                <a:latin typeface="Menlo" pitchFamily="34" charset="0"/>
                <a:ea typeface="Menlo" pitchFamily="34" charset="-122"/>
                <a:cs typeface="Menlo" pitchFamily="34" charset="-120"/>
              </a:rPr>
              <a:t>github.com/charlyppr/xrpl-lending</a:t>
            </a:r>
            <a:endParaRPr lang="en-US" sz="2100" dirty="0"/>
          </a:p>
        </p:txBody>
      </p:sp>
      <p:sp>
        <p:nvSpPr>
          <p:cNvPr id="9" name="Shape 6"/>
          <p:cNvSpPr/>
          <p:nvPr/>
        </p:nvSpPr>
        <p:spPr>
          <a:xfrm>
            <a:off x="804672" y="5120640"/>
            <a:ext cx="1198626" cy="292608"/>
          </a:xfrm>
          <a:prstGeom prst="roundRect">
            <a:avLst>
              <a:gd name="adj" fmla="val 50000"/>
            </a:avLst>
          </a:prstGeom>
          <a:solidFill>
            <a:srgbClr val="12357E"/>
          </a:solidFill>
          <a:ln/>
        </p:spPr>
      </p:sp>
      <p:sp>
        <p:nvSpPr>
          <p:cNvPr id="10" name="Text 7"/>
          <p:cNvSpPr txBox="1"/>
          <p:nvPr/>
        </p:nvSpPr>
        <p:spPr>
          <a:xfrm>
            <a:off x="804672" y="512064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FEEDBACK.md</a:t>
            </a:r>
            <a:endParaRPr lang="en-US" sz="950" dirty="0"/>
          </a:p>
        </p:txBody>
      </p:sp>
      <p:sp>
        <p:nvSpPr>
          <p:cNvPr id="11" name="Shape 8"/>
          <p:cNvSpPr/>
          <p:nvPr/>
        </p:nvSpPr>
        <p:spPr>
          <a:xfrm>
            <a:off x="2131314" y="5120640"/>
            <a:ext cx="1271016" cy="292608"/>
          </a:xfrm>
          <a:prstGeom prst="roundRect">
            <a:avLst>
              <a:gd name="adj" fmla="val 50000"/>
            </a:avLst>
          </a:prstGeom>
          <a:solidFill>
            <a:srgbClr val="12357E"/>
          </a:solidFill>
          <a:ln/>
        </p:spPr>
      </p:sp>
      <p:sp>
        <p:nvSpPr>
          <p:cNvPr id="12" name="Text 9"/>
          <p:cNvSpPr txBox="1"/>
          <p:nvPr/>
        </p:nvSpPr>
        <p:spPr>
          <a:xfrm>
            <a:off x="2131314" y="5120640"/>
            <a:ext cx="127101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FEEDBACK.pdf</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CY-HACK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Exit Lane</dc:title>
  <dc:subject>XRPL Lending Protocol Hackathon · Track 1</dc:subject>
  <dc:creator>CY-HACK</dc:creator>
  <cp:lastModifiedBy>CY-HACK</cp:lastModifiedBy>
  <cp:revision>1</cp:revision>
  <dcterms:created xsi:type="dcterms:W3CDTF">2026-09-13T08:04:34Z</dcterms:created>
  <dcterms:modified xsi:type="dcterms:W3CDTF">2026-09-13T08:04:34Z</dcterms:modified>
</cp:coreProperties>
</file>